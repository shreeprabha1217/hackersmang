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energy. State the premise in one line before the title even lands: "compiles and passes tests" is not the same as "correct." Introduce yourself briefly, then move straight to the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to prove live because it's timing-dependent : either run the multi-threaded harness live, or lean on the AI explaining why it's unsafe if the repro doesn't cooperate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AI to explain WHY it doesn't work, not just to find it : the proxy explanation is the educational payoff for the room. Strongest "aha" of the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Easiest of the three to prove live: turn on Hibernate SQL logging (show-sql or p6spy) and show the query count drop from 201 to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ackers Mangaluru logo">    </p:cNvPr>
          <p:cNvPicPr>
            <a:picLocks noChangeAspect="1"/>
          </p:cNvPicPr>
          <p:nvPr/>
        </p:nvPicPr>
        <p:blipFill>
          <a:blip r:embed="rId1"/>
          <a:srcRect l="0" r="0" t="-114" b="-114"/>
          <a:stretch/>
        </p:blipFill>
        <p:spPr>
          <a:xfrm>
            <a:off x="5461000" y="960785"/>
            <a:ext cx="1270000" cy="1270000"/>
          </a:xfrm>
          <a:prstGeom prst="rect">
            <a:avLst/>
          </a:prstGeom>
        </p:spPr>
      </p:pic>
      <p:pic>
        <p:nvPicPr>
          <p:cNvPr id="3" name="Image 1" descr="#HMSep26 : HackersMang, 2026 September Edition">    </p:cNvPr>
          <p:cNvPicPr>
            <a:picLocks noChangeAspect="1"/>
          </p:cNvPicPr>
          <p:nvPr/>
        </p:nvPicPr>
        <p:blipFill>
          <a:blip r:embed="rId2"/>
          <a:srcRect l="-101" r="-101" t="0" b="0"/>
          <a:stretch/>
        </p:blipFill>
        <p:spPr>
          <a:xfrm>
            <a:off x="4318000" y="2459385"/>
            <a:ext cx="3556000" cy="965200"/>
          </a:xfrm>
          <a:prstGeom prst="rect">
            <a:avLst/>
          </a:prstGeom>
        </p:spPr>
      </p:pic>
      <p:sp>
        <p:nvSpPr>
          <p:cNvPr id="4" name="Text 0"/>
          <p:cNvSpPr/>
          <p:nvPr/>
        </p:nvSpPr>
        <p:spPr>
          <a:xfrm>
            <a:off x="700088" y="3653185"/>
            <a:ext cx="10791825" cy="580380"/>
          </a:xfrm>
          <a:prstGeom prst="rect">
            <a:avLst/>
          </a:prstGeom>
          <a:noFill/>
          <a:ln/>
        </p:spPr>
        <p:txBody>
          <a:bodyPr wrap="square" lIns="0" tIns="0" rIns="0" bIns="0" rtlCol="0" anchor="t">
            <a:normAutofit/>
          </a:bodyPr>
          <a:lstStyle/>
          <a:p>
            <a:pPr algn="ctr" indent="0" marL="0">
              <a:lnSpc>
                <a:spcPts val="4370"/>
              </a:lnSpc>
              <a:buNone/>
            </a:pPr>
            <a:r>
              <a:rPr lang="en-US" sz="3800" b="1" dirty="0">
                <a:solidFill>
                  <a:srgbClr val="111111"/>
                </a:solidFill>
                <a:latin typeface="Arial" pitchFamily="34" charset="0"/>
                <a:ea typeface="Arial" pitchFamily="34" charset="-122"/>
                <a:cs typeface="Arial" pitchFamily="34" charset="-120"/>
              </a:rPr>
              <a:t>Can AI Catch Bugs Your Compiler Can't?</a:t>
            </a:r>
            <a:endParaRPr lang="en-US" sz="3800" dirty="0"/>
          </a:p>
        </p:txBody>
      </p:sp>
      <p:sp>
        <p:nvSpPr>
          <p:cNvPr id="5" name="Text 1"/>
          <p:cNvSpPr/>
          <p:nvPr/>
        </p:nvSpPr>
        <p:spPr>
          <a:xfrm>
            <a:off x="1844675" y="4436765"/>
            <a:ext cx="8502650" cy="292100"/>
          </a:xfrm>
          <a:prstGeom prst="rect">
            <a:avLst/>
          </a:prstGeom>
          <a:noFill/>
          <a:ln/>
        </p:spPr>
        <p:txBody>
          <a:bodyPr wrap="square" lIns="0" tIns="0" rIns="0" bIns="0" rtlCol="0" anchor="t">
            <a:normAutofit/>
          </a:bodyPr>
          <a:lstStyle/>
          <a:p>
            <a:pPr algn="ctr" indent="0" marL="0">
              <a:lnSpc>
                <a:spcPts val="2100"/>
              </a:lnSpc>
              <a:buNone/>
            </a:pPr>
            <a:r>
              <a:rPr lang="en-US" sz="1400" dirty="0">
                <a:solidFill>
                  <a:srgbClr val="595959"/>
                </a:solidFill>
                <a:latin typeface="Arial" pitchFamily="34" charset="0"/>
                <a:ea typeface="Arial" pitchFamily="34" charset="-122"/>
                <a:cs typeface="Arial" pitchFamily="34" charset="-120"/>
              </a:rPr>
              <a:t>Java &amp; Spring Boot bugs that compile clean, pass every test, and still break production</a:t>
            </a:r>
            <a:endParaRPr lang="en-US" sz="1400" dirty="0"/>
          </a:p>
        </p:txBody>
      </p:sp>
      <p:sp>
        <p:nvSpPr>
          <p:cNvPr id="6" name="Text 2"/>
          <p:cNvSpPr/>
          <p:nvPr/>
        </p:nvSpPr>
        <p:spPr>
          <a:xfrm>
            <a:off x="5373291" y="5084465"/>
            <a:ext cx="149621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11111"/>
                </a:solidFill>
                <a:latin typeface="Arial" pitchFamily="34" charset="0"/>
                <a:ea typeface="Arial" pitchFamily="34" charset="-122"/>
                <a:cs typeface="Arial" pitchFamily="34" charset="-120"/>
              </a:rPr>
              <a:t>Shreeprabha N</a:t>
            </a:r>
            <a:endParaRPr lang="en-US" sz="1600" dirty="0"/>
          </a:p>
        </p:txBody>
      </p:sp>
      <p:sp>
        <p:nvSpPr>
          <p:cNvPr id="7" name="Text 3"/>
          <p:cNvSpPr/>
          <p:nvPr/>
        </p:nvSpPr>
        <p:spPr>
          <a:xfrm>
            <a:off x="5075188" y="5419725"/>
            <a:ext cx="21028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linkedin.com/in/shreeprabha-n</a:t>
            </a:r>
            <a:endParaRPr lang="en-US" sz="1200" dirty="0"/>
          </a:p>
        </p:txBody>
      </p:sp>
      <p:sp>
        <p:nvSpPr>
          <p:cNvPr id="8" name="Text 4"/>
          <p:cNvSpPr/>
          <p:nvPr/>
        </p:nvSpPr>
        <p:spPr>
          <a:xfrm>
            <a:off x="4520654" y="5683845"/>
            <a:ext cx="32452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8F6F"/>
                </a:solidFill>
                <a:latin typeface="Arial" pitchFamily="34" charset="0"/>
                <a:ea typeface="Arial" pitchFamily="34" charset="-122"/>
                <a:cs typeface="Arial" pitchFamily="34" charset="-120"/>
              </a:rPr>
              <a:t>github.com/shreeprabha1217/HackersMang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809659" y="304800"/>
            <a:ext cx="19305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@hackersmang #HMSep26</a:t>
            </a:r>
            <a:endParaRPr lang="en-US" sz="1200" dirty="0"/>
          </a:p>
        </p:txBody>
      </p:sp>
      <p:sp>
        <p:nvSpPr>
          <p:cNvPr id="3" name="Text 1"/>
          <p:cNvSpPr/>
          <p:nvPr/>
        </p:nvSpPr>
        <p:spPr>
          <a:xfrm>
            <a:off x="812800" y="7112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11111"/>
                </a:solidFill>
                <a:latin typeface="Arial" pitchFamily="34" charset="0"/>
                <a:ea typeface="Arial" pitchFamily="34" charset="-122"/>
                <a:cs typeface="Arial" pitchFamily="34" charset="-120"/>
              </a:rPr>
              <a:t>30 minutes, four stops</a:t>
            </a:r>
            <a:endParaRPr lang="en-US" sz="2800" dirty="0"/>
          </a:p>
        </p:txBody>
      </p:sp>
      <p:sp>
        <p:nvSpPr>
          <p:cNvPr id="4" name="Shape 2"/>
          <p:cNvSpPr/>
          <p:nvPr/>
        </p:nvSpPr>
        <p:spPr>
          <a:xfrm>
            <a:off x="815975" y="1478905"/>
            <a:ext cx="10560050" cy="732780"/>
          </a:xfrm>
          <a:prstGeom prst="roundRect">
            <a:avLst>
              <a:gd name="adj" fmla="val 13432"/>
            </a:avLst>
          </a:prstGeom>
          <a:solidFill>
            <a:srgbClr val="F5F6F7"/>
          </a:solidFill>
          <a:ln w="6350">
            <a:solidFill>
              <a:srgbClr val="E0E0E0"/>
            </a:solidFill>
            <a:prstDash val="solid"/>
          </a:ln>
        </p:spPr>
      </p:sp>
      <p:sp>
        <p:nvSpPr>
          <p:cNvPr id="5" name="Text 3"/>
          <p:cNvSpPr/>
          <p:nvPr/>
        </p:nvSpPr>
        <p:spPr>
          <a:xfrm>
            <a:off x="1073150" y="1685280"/>
            <a:ext cx="685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8F6F"/>
                </a:solidFill>
                <a:latin typeface="Arial" pitchFamily="34" charset="0"/>
                <a:ea typeface="Arial" pitchFamily="34" charset="-122"/>
                <a:cs typeface="Arial" pitchFamily="34" charset="-120"/>
              </a:rPr>
              <a:t>01</a:t>
            </a:r>
            <a:endParaRPr lang="en-US" sz="1800" dirty="0"/>
          </a:p>
        </p:txBody>
      </p:sp>
      <p:sp>
        <p:nvSpPr>
          <p:cNvPr id="6" name="Text 4"/>
          <p:cNvSpPr/>
          <p:nvPr/>
        </p:nvSpPr>
        <p:spPr>
          <a:xfrm>
            <a:off x="1962150" y="1711920"/>
            <a:ext cx="825411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Arial" pitchFamily="34" charset="0"/>
                <a:ea typeface="Arial" pitchFamily="34" charset="-122"/>
                <a:cs typeface="Arial" pitchFamily="34" charset="-120"/>
              </a:rPr>
              <a:t>The premise : compiled and tested isn't the same as correct</a:t>
            </a:r>
            <a:endParaRPr lang="en-US" sz="1500" dirty="0"/>
          </a:p>
        </p:txBody>
      </p:sp>
      <p:sp>
        <p:nvSpPr>
          <p:cNvPr id="7" name="Text 5"/>
          <p:cNvSpPr/>
          <p:nvPr/>
        </p:nvSpPr>
        <p:spPr>
          <a:xfrm>
            <a:off x="10179050" y="173861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Arial" pitchFamily="34" charset="0"/>
                <a:ea typeface="Arial" pitchFamily="34" charset="-122"/>
                <a:cs typeface="Arial" pitchFamily="34" charset="-120"/>
              </a:rPr>
              <a:t>3 min</a:t>
            </a:r>
            <a:endParaRPr lang="en-US" sz="1200" dirty="0"/>
          </a:p>
        </p:txBody>
      </p:sp>
      <p:sp>
        <p:nvSpPr>
          <p:cNvPr id="8" name="Shape 6"/>
          <p:cNvSpPr/>
          <p:nvPr/>
        </p:nvSpPr>
        <p:spPr>
          <a:xfrm>
            <a:off x="815975" y="2345035"/>
            <a:ext cx="10560050" cy="732780"/>
          </a:xfrm>
          <a:prstGeom prst="roundRect">
            <a:avLst>
              <a:gd name="adj" fmla="val 13432"/>
            </a:avLst>
          </a:prstGeom>
          <a:solidFill>
            <a:srgbClr val="F5F6F7"/>
          </a:solidFill>
          <a:ln w="6350">
            <a:solidFill>
              <a:srgbClr val="E0E0E0"/>
            </a:solidFill>
            <a:prstDash val="solid"/>
          </a:ln>
        </p:spPr>
      </p:sp>
      <p:sp>
        <p:nvSpPr>
          <p:cNvPr id="9" name="Text 7"/>
          <p:cNvSpPr/>
          <p:nvPr/>
        </p:nvSpPr>
        <p:spPr>
          <a:xfrm>
            <a:off x="1073150" y="2551410"/>
            <a:ext cx="685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8F6F"/>
                </a:solidFill>
                <a:latin typeface="Arial" pitchFamily="34" charset="0"/>
                <a:ea typeface="Arial" pitchFamily="34" charset="-122"/>
                <a:cs typeface="Arial" pitchFamily="34" charset="-120"/>
              </a:rPr>
              <a:t>02</a:t>
            </a:r>
            <a:endParaRPr lang="en-US" sz="1800" dirty="0"/>
          </a:p>
        </p:txBody>
      </p:sp>
      <p:sp>
        <p:nvSpPr>
          <p:cNvPr id="10" name="Text 8"/>
          <p:cNvSpPr/>
          <p:nvPr/>
        </p:nvSpPr>
        <p:spPr>
          <a:xfrm>
            <a:off x="1962150" y="2578050"/>
            <a:ext cx="825411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Arial" pitchFamily="34" charset="0"/>
                <a:ea typeface="Arial" pitchFamily="34" charset="-122"/>
                <a:cs typeface="Arial" pitchFamily="34" charset="-120"/>
              </a:rPr>
              <a:t>Where reviews and unit tests quietly let bugs through</a:t>
            </a:r>
            <a:endParaRPr lang="en-US" sz="1500" dirty="0"/>
          </a:p>
        </p:txBody>
      </p:sp>
      <p:sp>
        <p:nvSpPr>
          <p:cNvPr id="11" name="Text 9"/>
          <p:cNvSpPr/>
          <p:nvPr/>
        </p:nvSpPr>
        <p:spPr>
          <a:xfrm>
            <a:off x="10179050" y="260474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Arial" pitchFamily="34" charset="0"/>
                <a:ea typeface="Arial" pitchFamily="34" charset="-122"/>
                <a:cs typeface="Arial" pitchFamily="34" charset="-120"/>
              </a:rPr>
              <a:t>5 min</a:t>
            </a:r>
            <a:endParaRPr lang="en-US" sz="1200" dirty="0"/>
          </a:p>
        </p:txBody>
      </p:sp>
      <p:sp>
        <p:nvSpPr>
          <p:cNvPr id="12" name="Shape 10"/>
          <p:cNvSpPr/>
          <p:nvPr/>
        </p:nvSpPr>
        <p:spPr>
          <a:xfrm>
            <a:off x="815975" y="3211165"/>
            <a:ext cx="10560050" cy="732780"/>
          </a:xfrm>
          <a:prstGeom prst="roundRect">
            <a:avLst>
              <a:gd name="adj" fmla="val 13432"/>
            </a:avLst>
          </a:prstGeom>
          <a:solidFill>
            <a:srgbClr val="EAF6F1"/>
          </a:solidFill>
          <a:ln w="6350">
            <a:solidFill>
              <a:srgbClr val="0E8F6F"/>
            </a:solidFill>
            <a:prstDash val="solid"/>
          </a:ln>
        </p:spPr>
      </p:sp>
      <p:sp>
        <p:nvSpPr>
          <p:cNvPr id="13" name="Text 11"/>
          <p:cNvSpPr/>
          <p:nvPr/>
        </p:nvSpPr>
        <p:spPr>
          <a:xfrm>
            <a:off x="1073150" y="3417540"/>
            <a:ext cx="685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8F6F"/>
                </a:solidFill>
                <a:latin typeface="Arial" pitchFamily="34" charset="0"/>
                <a:ea typeface="Arial" pitchFamily="34" charset="-122"/>
                <a:cs typeface="Arial" pitchFamily="34" charset="-120"/>
              </a:rPr>
              <a:t>03</a:t>
            </a:r>
            <a:endParaRPr lang="en-US" sz="1800" dirty="0"/>
          </a:p>
        </p:txBody>
      </p:sp>
      <p:sp>
        <p:nvSpPr>
          <p:cNvPr id="14" name="Text 12"/>
          <p:cNvSpPr/>
          <p:nvPr/>
        </p:nvSpPr>
        <p:spPr>
          <a:xfrm>
            <a:off x="1962150" y="3444180"/>
            <a:ext cx="825411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Arial" pitchFamily="34" charset="0"/>
                <a:ea typeface="Arial" pitchFamily="34" charset="-122"/>
                <a:cs typeface="Arial" pitchFamily="34" charset="-120"/>
              </a:rPr>
              <a:t>Three live demos : race condition, @Transactional proxy, N+1 queries</a:t>
            </a:r>
            <a:endParaRPr lang="en-US" sz="1500" dirty="0"/>
          </a:p>
        </p:txBody>
      </p:sp>
      <p:sp>
        <p:nvSpPr>
          <p:cNvPr id="15" name="Text 13"/>
          <p:cNvSpPr/>
          <p:nvPr/>
        </p:nvSpPr>
        <p:spPr>
          <a:xfrm>
            <a:off x="10179050" y="347087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Arial" pitchFamily="34" charset="0"/>
                <a:ea typeface="Arial" pitchFamily="34" charset="-122"/>
                <a:cs typeface="Arial" pitchFamily="34" charset="-120"/>
              </a:rPr>
              <a:t>18 min</a:t>
            </a:r>
            <a:endParaRPr lang="en-US" sz="1200" dirty="0"/>
          </a:p>
        </p:txBody>
      </p:sp>
      <p:sp>
        <p:nvSpPr>
          <p:cNvPr id="16" name="Shape 14"/>
          <p:cNvSpPr/>
          <p:nvPr/>
        </p:nvSpPr>
        <p:spPr>
          <a:xfrm>
            <a:off x="815975" y="4077295"/>
            <a:ext cx="10560050" cy="732780"/>
          </a:xfrm>
          <a:prstGeom prst="roundRect">
            <a:avLst>
              <a:gd name="adj" fmla="val 13432"/>
            </a:avLst>
          </a:prstGeom>
          <a:solidFill>
            <a:srgbClr val="F5F6F7"/>
          </a:solidFill>
          <a:ln w="6350">
            <a:solidFill>
              <a:srgbClr val="E0E0E0"/>
            </a:solidFill>
            <a:prstDash val="solid"/>
          </a:ln>
        </p:spPr>
      </p:sp>
      <p:sp>
        <p:nvSpPr>
          <p:cNvPr id="17" name="Text 15"/>
          <p:cNvSpPr/>
          <p:nvPr/>
        </p:nvSpPr>
        <p:spPr>
          <a:xfrm>
            <a:off x="1073150" y="4283670"/>
            <a:ext cx="685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8F6F"/>
                </a:solidFill>
                <a:latin typeface="Arial" pitchFamily="34" charset="0"/>
                <a:ea typeface="Arial" pitchFamily="34" charset="-122"/>
                <a:cs typeface="Arial" pitchFamily="34" charset="-120"/>
              </a:rPr>
              <a:t>04</a:t>
            </a:r>
            <a:endParaRPr lang="en-US" sz="1800" dirty="0"/>
          </a:p>
        </p:txBody>
      </p:sp>
      <p:sp>
        <p:nvSpPr>
          <p:cNvPr id="18" name="Text 16"/>
          <p:cNvSpPr/>
          <p:nvPr/>
        </p:nvSpPr>
        <p:spPr>
          <a:xfrm>
            <a:off x="1962150" y="4310311"/>
            <a:ext cx="825411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Arial" pitchFamily="34" charset="0"/>
                <a:ea typeface="Arial" pitchFamily="34" charset="-122"/>
                <a:cs typeface="Arial" pitchFamily="34" charset="-120"/>
              </a:rPr>
              <a:t>Limits of AI review, takeaways, and how to start using it</a:t>
            </a:r>
            <a:endParaRPr lang="en-US" sz="1500" dirty="0"/>
          </a:p>
        </p:txBody>
      </p:sp>
      <p:sp>
        <p:nvSpPr>
          <p:cNvPr id="19" name="Text 17"/>
          <p:cNvSpPr/>
          <p:nvPr/>
        </p:nvSpPr>
        <p:spPr>
          <a:xfrm>
            <a:off x="10179050" y="4337000"/>
            <a:ext cx="939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Arial" pitchFamily="34" charset="0"/>
                <a:ea typeface="Arial" pitchFamily="34" charset="-122"/>
                <a:cs typeface="Arial" pitchFamily="34" charset="-120"/>
              </a:rPr>
              <a:t>4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809659" y="304800"/>
            <a:ext cx="19305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@hackersmang #HMSep26</a:t>
            </a:r>
            <a:endParaRPr lang="en-US" sz="1200" dirty="0"/>
          </a:p>
        </p:txBody>
      </p:sp>
      <p:sp>
        <p:nvSpPr>
          <p:cNvPr id="3" name="Text 1"/>
          <p:cNvSpPr/>
          <p:nvPr/>
        </p:nvSpPr>
        <p:spPr>
          <a:xfrm>
            <a:off x="812800" y="711200"/>
            <a:ext cx="10464800"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11111"/>
                </a:solidFill>
                <a:latin typeface="Arial" pitchFamily="34" charset="0"/>
                <a:ea typeface="Arial" pitchFamily="34" charset="-122"/>
                <a:cs typeface="Arial" pitchFamily="34" charset="-120"/>
              </a:rPr>
              <a:t>Code that compiles and passes tests need not be perfect</a:t>
            </a:r>
            <a:endParaRPr lang="en-US" sz="2800" dirty="0"/>
          </a:p>
        </p:txBody>
      </p:sp>
      <p:sp>
        <p:nvSpPr>
          <p:cNvPr id="4" name="Text 2"/>
          <p:cNvSpPr/>
          <p:nvPr/>
        </p:nvSpPr>
        <p:spPr>
          <a:xfrm>
            <a:off x="812800" y="1297930"/>
            <a:ext cx="9810750" cy="615950"/>
          </a:xfrm>
          <a:prstGeom prst="rect">
            <a:avLst/>
          </a:prstGeom>
          <a:noFill/>
          <a:ln/>
        </p:spPr>
        <p:txBody>
          <a:bodyPr wrap="square" lIns="0" tIns="0" rIns="0" bIns="0" rtlCol="0" anchor="t">
            <a:normAutofit/>
          </a:bodyPr>
          <a:lstStyle/>
          <a:p>
            <a:pPr algn="l" indent="0" marL="0">
              <a:lnSpc>
                <a:spcPts val="2325"/>
              </a:lnSpc>
              <a:buNone/>
            </a:pPr>
            <a:r>
              <a:rPr lang="en-US" sz="1500" dirty="0">
                <a:solidFill>
                  <a:srgbClr val="595959"/>
                </a:solidFill>
                <a:latin typeface="Arial" pitchFamily="34" charset="0"/>
                <a:ea typeface="Arial" pitchFamily="34" charset="-122"/>
                <a:cs typeface="Arial" pitchFamily="34" charset="-120"/>
              </a:rPr>
              <a:t>The compiler checks syntax and types. Your test suite checks the cases you thought to write. Neither one is looking for the bugs that only show up under load, under bad data, or under Spring's own plumbing.</a:t>
            </a:r>
            <a:endParaRPr lang="en-US" sz="1500" dirty="0"/>
          </a:p>
        </p:txBody>
      </p:sp>
      <p:sp>
        <p:nvSpPr>
          <p:cNvPr id="5" name="Shape 3"/>
          <p:cNvSpPr/>
          <p:nvPr/>
        </p:nvSpPr>
        <p:spPr>
          <a:xfrm>
            <a:off x="815975" y="2890589"/>
            <a:ext cx="2520950" cy="1446510"/>
          </a:xfrm>
          <a:prstGeom prst="roundRect">
            <a:avLst>
              <a:gd name="adj" fmla="val 6804"/>
            </a:avLst>
          </a:prstGeom>
          <a:solidFill>
            <a:srgbClr val="F5F6F7"/>
          </a:solidFill>
          <a:ln w="6350">
            <a:solidFill>
              <a:srgbClr val="E0E0E0"/>
            </a:solidFill>
            <a:prstDash val="solid"/>
          </a:ln>
        </p:spPr>
      </p:sp>
      <p:pic>
        <p:nvPicPr>
          <p:cNvPr id="6" name="Image 0" descr="Clock">    </p:cNvPr>
          <p:cNvPicPr>
            <a:picLocks noChangeAspect="1"/>
          </p:cNvPicPr>
          <p:nvPr/>
        </p:nvPicPr>
        <p:blipFill>
          <a:blip r:embed="rId1"/>
          <a:srcRect l="0" r="0" t="0" b="0"/>
          <a:stretch/>
        </p:blipFill>
        <p:spPr>
          <a:xfrm>
            <a:off x="1022350" y="3096964"/>
            <a:ext cx="190500" cy="190500"/>
          </a:xfrm>
          <a:prstGeom prst="rect">
            <a:avLst/>
          </a:prstGeom>
        </p:spPr>
      </p:pic>
      <p:sp>
        <p:nvSpPr>
          <p:cNvPr id="7" name="Text 4"/>
          <p:cNvSpPr/>
          <p:nvPr/>
        </p:nvSpPr>
        <p:spPr>
          <a:xfrm>
            <a:off x="1022350" y="3350964"/>
            <a:ext cx="2171446"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11111"/>
                </a:solidFill>
                <a:latin typeface="Arial" pitchFamily="34" charset="0"/>
                <a:ea typeface="Arial" pitchFamily="34" charset="-122"/>
                <a:cs typeface="Arial" pitchFamily="34" charset="-120"/>
              </a:rPr>
              <a:t>Timing-dependent</a:t>
            </a:r>
            <a:endParaRPr lang="en-US" sz="1200" dirty="0"/>
          </a:p>
        </p:txBody>
      </p:sp>
      <p:sp>
        <p:nvSpPr>
          <p:cNvPr id="8" name="Text 5"/>
          <p:cNvSpPr/>
          <p:nvPr/>
        </p:nvSpPr>
        <p:spPr>
          <a:xfrm>
            <a:off x="1022350" y="3597325"/>
            <a:ext cx="2171446" cy="5588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95959"/>
                </a:solidFill>
                <a:latin typeface="Arial" pitchFamily="34" charset="0"/>
                <a:ea typeface="Arial" pitchFamily="34" charset="-122"/>
                <a:cs typeface="Arial" pitchFamily="34" charset="-120"/>
              </a:rPr>
              <a:t>Race conditions and concurrency bugs only surface under real, simultaneous load.</a:t>
            </a:r>
            <a:endParaRPr lang="en-US" sz="1000" dirty="0"/>
          </a:p>
        </p:txBody>
      </p:sp>
      <p:sp>
        <p:nvSpPr>
          <p:cNvPr id="9" name="Shape 6"/>
          <p:cNvSpPr/>
          <p:nvPr/>
        </p:nvSpPr>
        <p:spPr>
          <a:xfrm>
            <a:off x="3495675" y="2890589"/>
            <a:ext cx="2520950" cy="1446510"/>
          </a:xfrm>
          <a:prstGeom prst="roundRect">
            <a:avLst>
              <a:gd name="adj" fmla="val 6804"/>
            </a:avLst>
          </a:prstGeom>
          <a:solidFill>
            <a:srgbClr val="F5F6F7"/>
          </a:solidFill>
          <a:ln w="6350">
            <a:solidFill>
              <a:srgbClr val="E0E0E0"/>
            </a:solidFill>
            <a:prstDash val="solid"/>
          </a:ln>
        </p:spPr>
      </p:sp>
      <p:pic>
        <p:nvPicPr>
          <p:cNvPr id="10" name="Image 1" descr="Wrench">    </p:cNvPr>
          <p:cNvPicPr>
            <a:picLocks noChangeAspect="1"/>
          </p:cNvPicPr>
          <p:nvPr/>
        </p:nvPicPr>
        <p:blipFill>
          <a:blip r:embed="rId2"/>
          <a:srcRect l="0" r="0" t="0" b="0"/>
          <a:stretch/>
        </p:blipFill>
        <p:spPr>
          <a:xfrm>
            <a:off x="3702050" y="3096964"/>
            <a:ext cx="190500" cy="190500"/>
          </a:xfrm>
          <a:prstGeom prst="rect">
            <a:avLst/>
          </a:prstGeom>
        </p:spPr>
      </p:pic>
      <p:sp>
        <p:nvSpPr>
          <p:cNvPr id="11" name="Text 7"/>
          <p:cNvSpPr/>
          <p:nvPr/>
        </p:nvSpPr>
        <p:spPr>
          <a:xfrm>
            <a:off x="3702050" y="3350964"/>
            <a:ext cx="2171446"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11111"/>
                </a:solidFill>
                <a:latin typeface="Arial" pitchFamily="34" charset="0"/>
                <a:ea typeface="Arial" pitchFamily="34" charset="-122"/>
                <a:cs typeface="Arial" pitchFamily="34" charset="-120"/>
              </a:rPr>
              <a:t>Framework-shaped</a:t>
            </a:r>
            <a:endParaRPr lang="en-US" sz="1200" dirty="0"/>
          </a:p>
        </p:txBody>
      </p:sp>
      <p:sp>
        <p:nvSpPr>
          <p:cNvPr id="12" name="Text 8"/>
          <p:cNvSpPr/>
          <p:nvPr/>
        </p:nvSpPr>
        <p:spPr>
          <a:xfrm>
            <a:off x="3702050" y="3597325"/>
            <a:ext cx="2171446" cy="5588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95959"/>
                </a:solidFill>
                <a:latin typeface="Arial" pitchFamily="34" charset="0"/>
                <a:ea typeface="Arial" pitchFamily="34" charset="-122"/>
                <a:cs typeface="Arial" pitchFamily="34" charset="-120"/>
              </a:rPr>
              <a:t>Proxy-based mechanics like @Transactional fail silently, with no exception raised.</a:t>
            </a:r>
            <a:endParaRPr lang="en-US" sz="1000" dirty="0"/>
          </a:p>
        </p:txBody>
      </p:sp>
      <p:sp>
        <p:nvSpPr>
          <p:cNvPr id="13" name="Shape 9"/>
          <p:cNvSpPr/>
          <p:nvPr/>
        </p:nvSpPr>
        <p:spPr>
          <a:xfrm>
            <a:off x="6175375" y="2890589"/>
            <a:ext cx="2520950" cy="1446510"/>
          </a:xfrm>
          <a:prstGeom prst="roundRect">
            <a:avLst>
              <a:gd name="adj" fmla="val 6804"/>
            </a:avLst>
          </a:prstGeom>
          <a:solidFill>
            <a:srgbClr val="F5F6F7"/>
          </a:solidFill>
          <a:ln w="6350">
            <a:solidFill>
              <a:srgbClr val="E0E0E0"/>
            </a:solidFill>
            <a:prstDash val="solid"/>
          </a:ln>
        </p:spPr>
      </p:sp>
      <p:pic>
        <p:nvPicPr>
          <p:cNvPr id="14" name="Image 2" descr="Database">    </p:cNvPr>
          <p:cNvPicPr>
            <a:picLocks noChangeAspect="1"/>
          </p:cNvPicPr>
          <p:nvPr/>
        </p:nvPicPr>
        <p:blipFill>
          <a:blip r:embed="rId3"/>
          <a:srcRect l="0" r="0" t="0" b="0"/>
          <a:stretch/>
        </p:blipFill>
        <p:spPr>
          <a:xfrm>
            <a:off x="6381750" y="3096964"/>
            <a:ext cx="190500" cy="190500"/>
          </a:xfrm>
          <a:prstGeom prst="rect">
            <a:avLst/>
          </a:prstGeom>
        </p:spPr>
      </p:pic>
      <p:sp>
        <p:nvSpPr>
          <p:cNvPr id="15" name="Text 10"/>
          <p:cNvSpPr/>
          <p:nvPr/>
        </p:nvSpPr>
        <p:spPr>
          <a:xfrm>
            <a:off x="6381750" y="3350964"/>
            <a:ext cx="2171446"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11111"/>
                </a:solidFill>
                <a:latin typeface="Arial" pitchFamily="34" charset="0"/>
                <a:ea typeface="Arial" pitchFamily="34" charset="-122"/>
                <a:cs typeface="Arial" pitchFamily="34" charset="-120"/>
              </a:rPr>
              <a:t>Volume-dependent</a:t>
            </a:r>
            <a:endParaRPr lang="en-US" sz="1200" dirty="0"/>
          </a:p>
        </p:txBody>
      </p:sp>
      <p:sp>
        <p:nvSpPr>
          <p:cNvPr id="16" name="Text 11"/>
          <p:cNvSpPr/>
          <p:nvPr/>
        </p:nvSpPr>
        <p:spPr>
          <a:xfrm>
            <a:off x="6381750" y="3597325"/>
            <a:ext cx="2171446" cy="5588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95959"/>
                </a:solidFill>
                <a:latin typeface="Arial" pitchFamily="34" charset="0"/>
                <a:ea typeface="Arial" pitchFamily="34" charset="-122"/>
                <a:cs typeface="Arial" pitchFamily="34" charset="-120"/>
              </a:rPr>
              <a:t>N+1 queries look correct with 3 test rows and fall over with 3,000 real ones.</a:t>
            </a:r>
            <a:endParaRPr lang="en-US" sz="1000" dirty="0"/>
          </a:p>
        </p:txBody>
      </p:sp>
      <p:sp>
        <p:nvSpPr>
          <p:cNvPr id="17" name="Shape 12"/>
          <p:cNvSpPr/>
          <p:nvPr/>
        </p:nvSpPr>
        <p:spPr>
          <a:xfrm>
            <a:off x="8855075" y="2890589"/>
            <a:ext cx="2520950" cy="1446510"/>
          </a:xfrm>
          <a:prstGeom prst="roundRect">
            <a:avLst>
              <a:gd name="adj" fmla="val 6804"/>
            </a:avLst>
          </a:prstGeom>
          <a:solidFill>
            <a:srgbClr val="FBEEE6"/>
          </a:solidFill>
          <a:ln w="6350">
            <a:solidFill>
              <a:srgbClr val="B45309"/>
            </a:solidFill>
            <a:prstDash val="solid"/>
          </a:ln>
        </p:spPr>
      </p:sp>
      <p:pic>
        <p:nvPicPr>
          <p:cNvPr id="18" name="Image 3" descr="Lock">    </p:cNvPr>
          <p:cNvPicPr>
            <a:picLocks noChangeAspect="1"/>
          </p:cNvPicPr>
          <p:nvPr/>
        </p:nvPicPr>
        <p:blipFill>
          <a:blip r:embed="rId4"/>
          <a:srcRect l="0" r="0" t="0" b="0"/>
          <a:stretch/>
        </p:blipFill>
        <p:spPr>
          <a:xfrm>
            <a:off x="9061450" y="3096964"/>
            <a:ext cx="190500" cy="190500"/>
          </a:xfrm>
          <a:prstGeom prst="rect">
            <a:avLst/>
          </a:prstGeom>
        </p:spPr>
      </p:pic>
      <p:sp>
        <p:nvSpPr>
          <p:cNvPr id="19" name="Text 13"/>
          <p:cNvSpPr/>
          <p:nvPr/>
        </p:nvSpPr>
        <p:spPr>
          <a:xfrm>
            <a:off x="9061450" y="3350964"/>
            <a:ext cx="2171446"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B45309"/>
                </a:solidFill>
                <a:latin typeface="Arial" pitchFamily="34" charset="0"/>
                <a:ea typeface="Arial" pitchFamily="34" charset="-122"/>
                <a:cs typeface="Arial" pitchFamily="34" charset="-120"/>
              </a:rPr>
              <a:t>Adversarial</a:t>
            </a:r>
            <a:endParaRPr lang="en-US" sz="1200" dirty="0"/>
          </a:p>
        </p:txBody>
      </p:sp>
      <p:sp>
        <p:nvSpPr>
          <p:cNvPr id="20" name="Text 14"/>
          <p:cNvSpPr/>
          <p:nvPr/>
        </p:nvSpPr>
        <p:spPr>
          <a:xfrm>
            <a:off x="9061450" y="3597325"/>
            <a:ext cx="2171446" cy="5588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B45309"/>
                </a:solidFill>
                <a:latin typeface="Arial" pitchFamily="34" charset="0"/>
                <a:ea typeface="Arial" pitchFamily="34" charset="-122"/>
                <a:cs typeface="Arial" pitchFamily="34" charset="-120"/>
              </a:rPr>
              <a:t>Security vulnerabilities need someone actively trying to break the code.</a:t>
            </a:r>
            <a:endParaRPr lang="en-US" sz="1000" dirty="0"/>
          </a:p>
        </p:txBody>
      </p:sp>
      <p:sp>
        <p:nvSpPr>
          <p:cNvPr id="21" name="Shape 15"/>
          <p:cNvSpPr/>
          <p:nvPr/>
        </p:nvSpPr>
        <p:spPr>
          <a:xfrm>
            <a:off x="815975" y="5342334"/>
            <a:ext cx="1844725" cy="397470"/>
          </a:xfrm>
          <a:prstGeom prst="roundRect">
            <a:avLst>
              <a:gd name="adj" fmla="val 50000"/>
            </a:avLst>
          </a:prstGeom>
          <a:solidFill>
            <a:srgbClr val="F5F6F7"/>
          </a:solidFill>
          <a:ln w="6350">
            <a:solidFill>
              <a:srgbClr val="E0E0E0"/>
            </a:solidFill>
            <a:prstDash val="solid"/>
          </a:ln>
        </p:spPr>
      </p:sp>
      <p:sp>
        <p:nvSpPr>
          <p:cNvPr id="22" name="Text 16"/>
          <p:cNvSpPr/>
          <p:nvPr/>
        </p:nvSpPr>
        <p:spPr>
          <a:xfrm>
            <a:off x="984250" y="5434409"/>
            <a:ext cx="15589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11111"/>
                </a:solidFill>
                <a:latin typeface="Arial" pitchFamily="34" charset="0"/>
                <a:ea typeface="Arial" pitchFamily="34" charset="-122"/>
                <a:cs typeface="Arial" pitchFamily="34" charset="-120"/>
              </a:rPr>
              <a:t>Unhandled exceptions</a:t>
            </a:r>
            <a:endParaRPr lang="en-US" sz="1200" dirty="0"/>
          </a:p>
        </p:txBody>
      </p:sp>
      <p:sp>
        <p:nvSpPr>
          <p:cNvPr id="23" name="Shape 17"/>
          <p:cNvSpPr/>
          <p:nvPr/>
        </p:nvSpPr>
        <p:spPr>
          <a:xfrm>
            <a:off x="2768650" y="5342334"/>
            <a:ext cx="1420912" cy="397470"/>
          </a:xfrm>
          <a:prstGeom prst="roundRect">
            <a:avLst>
              <a:gd name="adj" fmla="val 50000"/>
            </a:avLst>
          </a:prstGeom>
          <a:solidFill>
            <a:srgbClr val="F5F6F7"/>
          </a:solidFill>
          <a:ln w="6350">
            <a:solidFill>
              <a:srgbClr val="E0E0E0"/>
            </a:solidFill>
            <a:prstDash val="solid"/>
          </a:ln>
        </p:spPr>
      </p:sp>
      <p:sp>
        <p:nvSpPr>
          <p:cNvPr id="24" name="Text 18"/>
          <p:cNvSpPr/>
          <p:nvPr/>
        </p:nvSpPr>
        <p:spPr>
          <a:xfrm>
            <a:off x="2936925" y="5434409"/>
            <a:ext cx="11351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11111"/>
                </a:solidFill>
                <a:latin typeface="Arial" pitchFamily="34" charset="0"/>
                <a:ea typeface="Arial" pitchFamily="34" charset="-122"/>
                <a:cs typeface="Arial" pitchFamily="34" charset="-120"/>
              </a:rPr>
              <a:t>Race conditions</a:t>
            </a:r>
            <a:endParaRPr lang="en-US" sz="1200" dirty="0"/>
          </a:p>
        </p:txBody>
      </p:sp>
      <p:sp>
        <p:nvSpPr>
          <p:cNvPr id="25" name="Shape 19"/>
          <p:cNvSpPr/>
          <p:nvPr/>
        </p:nvSpPr>
        <p:spPr>
          <a:xfrm>
            <a:off x="4297511" y="5342334"/>
            <a:ext cx="1573312" cy="397470"/>
          </a:xfrm>
          <a:prstGeom prst="roundRect">
            <a:avLst>
              <a:gd name="adj" fmla="val 50000"/>
            </a:avLst>
          </a:prstGeom>
          <a:solidFill>
            <a:srgbClr val="F5F6F7"/>
          </a:solidFill>
          <a:ln w="6350">
            <a:solidFill>
              <a:srgbClr val="E0E0E0"/>
            </a:solidFill>
            <a:prstDash val="solid"/>
          </a:ln>
        </p:spPr>
      </p:sp>
      <p:sp>
        <p:nvSpPr>
          <p:cNvPr id="26" name="Text 20"/>
          <p:cNvSpPr/>
          <p:nvPr/>
        </p:nvSpPr>
        <p:spPr>
          <a:xfrm>
            <a:off x="4465786" y="5434409"/>
            <a:ext cx="1287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11111"/>
                </a:solidFill>
                <a:latin typeface="Arial" pitchFamily="34" charset="0"/>
                <a:ea typeface="Arial" pitchFamily="34" charset="-122"/>
                <a:cs typeface="Arial" pitchFamily="34" charset="-120"/>
              </a:rPr>
              <a:t>Concurrency bugs</a:t>
            </a:r>
            <a:endParaRPr lang="en-US" sz="1200" dirty="0"/>
          </a:p>
        </p:txBody>
      </p:sp>
      <p:sp>
        <p:nvSpPr>
          <p:cNvPr id="27" name="Shape 21"/>
          <p:cNvSpPr/>
          <p:nvPr/>
        </p:nvSpPr>
        <p:spPr>
          <a:xfrm>
            <a:off x="5978773" y="5342334"/>
            <a:ext cx="2172196" cy="397470"/>
          </a:xfrm>
          <a:prstGeom prst="roundRect">
            <a:avLst>
              <a:gd name="adj" fmla="val 50000"/>
            </a:avLst>
          </a:prstGeom>
          <a:solidFill>
            <a:srgbClr val="F5F6F7"/>
          </a:solidFill>
          <a:ln w="6350">
            <a:solidFill>
              <a:srgbClr val="E0E0E0"/>
            </a:solidFill>
            <a:prstDash val="solid"/>
          </a:ln>
        </p:spPr>
      </p:sp>
      <p:sp>
        <p:nvSpPr>
          <p:cNvPr id="28" name="Text 22"/>
          <p:cNvSpPr/>
          <p:nvPr/>
        </p:nvSpPr>
        <p:spPr>
          <a:xfrm>
            <a:off x="6147048" y="5434409"/>
            <a:ext cx="18907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11111"/>
                </a:solidFill>
                <a:latin typeface="Arial" pitchFamily="34" charset="0"/>
                <a:ea typeface="Arial" pitchFamily="34" charset="-122"/>
                <a:cs typeface="Arial" pitchFamily="34" charset="-120"/>
              </a:rPr>
              <a:t>Inefficient database access</a:t>
            </a:r>
            <a:endParaRPr lang="en-US" sz="1200" dirty="0"/>
          </a:p>
        </p:txBody>
      </p:sp>
      <p:sp>
        <p:nvSpPr>
          <p:cNvPr id="29" name="Shape 23"/>
          <p:cNvSpPr/>
          <p:nvPr/>
        </p:nvSpPr>
        <p:spPr>
          <a:xfrm>
            <a:off x="8258919" y="5342334"/>
            <a:ext cx="1674961" cy="397470"/>
          </a:xfrm>
          <a:prstGeom prst="roundRect">
            <a:avLst>
              <a:gd name="adj" fmla="val 50000"/>
            </a:avLst>
          </a:prstGeom>
          <a:solidFill>
            <a:srgbClr val="F5F6F7"/>
          </a:solidFill>
          <a:ln w="6350">
            <a:solidFill>
              <a:srgbClr val="E0E0E0"/>
            </a:solidFill>
            <a:prstDash val="solid"/>
          </a:ln>
        </p:spPr>
      </p:sp>
      <p:sp>
        <p:nvSpPr>
          <p:cNvPr id="30" name="Text 24"/>
          <p:cNvSpPr/>
          <p:nvPr/>
        </p:nvSpPr>
        <p:spPr>
          <a:xfrm>
            <a:off x="8427194" y="5434409"/>
            <a:ext cx="13892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11111"/>
                </a:solidFill>
                <a:latin typeface="Arial" pitchFamily="34" charset="0"/>
                <a:ea typeface="Arial" pitchFamily="34" charset="-122"/>
                <a:cs typeface="Arial" pitchFamily="34" charset="-120"/>
              </a:rPr>
              <a:t>Missing edge cases</a:t>
            </a:r>
            <a:endParaRPr lang="en-US" sz="1200" dirty="0"/>
          </a:p>
        </p:txBody>
      </p:sp>
      <p:sp>
        <p:nvSpPr>
          <p:cNvPr id="31" name="Shape 25"/>
          <p:cNvSpPr/>
          <p:nvPr/>
        </p:nvSpPr>
        <p:spPr>
          <a:xfrm>
            <a:off x="815975" y="5847755"/>
            <a:ext cx="1852761" cy="397470"/>
          </a:xfrm>
          <a:prstGeom prst="roundRect">
            <a:avLst>
              <a:gd name="adj" fmla="val 50000"/>
            </a:avLst>
          </a:prstGeom>
          <a:solidFill>
            <a:srgbClr val="F5F6F7"/>
          </a:solidFill>
          <a:ln w="6350">
            <a:solidFill>
              <a:srgbClr val="E0E0E0"/>
            </a:solidFill>
            <a:prstDash val="solid"/>
          </a:ln>
        </p:spPr>
      </p:sp>
      <p:sp>
        <p:nvSpPr>
          <p:cNvPr id="32" name="Text 26"/>
          <p:cNvSpPr/>
          <p:nvPr/>
        </p:nvSpPr>
        <p:spPr>
          <a:xfrm>
            <a:off x="984250" y="5939830"/>
            <a:ext cx="1567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11111"/>
                </a:solidFill>
                <a:latin typeface="Arial" pitchFamily="34" charset="0"/>
                <a:ea typeface="Arial" pitchFamily="34" charset="-122"/>
                <a:cs typeface="Arial" pitchFamily="34" charset="-120"/>
              </a:rPr>
              <a:t>Security vulnerabilities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809659" y="304800"/>
            <a:ext cx="19305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@hackersmang #HMSep26</a:t>
            </a:r>
            <a:endParaRPr lang="en-US" sz="1200" dirty="0"/>
          </a:p>
        </p:txBody>
      </p:sp>
      <p:sp>
        <p:nvSpPr>
          <p:cNvPr id="3" name="Text 1"/>
          <p:cNvSpPr/>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111111"/>
                </a:solidFill>
                <a:latin typeface="Arial" pitchFamily="34" charset="0"/>
                <a:ea typeface="Arial" pitchFamily="34" charset="-122"/>
                <a:cs typeface="Arial" pitchFamily="34" charset="-120"/>
              </a:rPr>
              <a:t>Who actually catches what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647825"/>
          <a:ext cx="10566400" cy="3200400"/>
        </p:xfrm>
        <a:graphic>
          <a:graphicData uri="http://schemas.openxmlformats.org/drawingml/2006/table">
            <a:tbl>
              <a:tblPr/>
              <a:tblGrid>
                <a:gridCol w="4226560"/>
                <a:gridCol w="2113280"/>
                <a:gridCol w="2113280"/>
                <a:gridCol w="2113280"/>
              </a:tblGrid>
              <a:tr h="533400">
                <a:tc>
                  <a:txBody>
                    <a:bodyPr/>
                    <a:lstStyle/>
                    <a:p>
                      <a:pPr indent="0" marL="0">
                        <a:lnSpc>
                          <a:spcPts val="2100"/>
                        </a:lnSpc>
                        <a:buNone/>
                      </a:pPr>
                      <a:r>
                        <a:rPr lang="en-US" sz="1500" b="1" dirty="0">
                          <a:solidFill>
                            <a:srgbClr val="595959"/>
                          </a:solidFill>
                          <a:latin typeface="Arial" pitchFamily="34" charset="0"/>
                          <a:ea typeface="Arial" pitchFamily="34" charset="-122"/>
                          <a:cs typeface="Arial" pitchFamily="34" charset="-120"/>
                        </a:rPr>
                        <a:t>Bug class</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ECECEC"/>
                    </a:solidFill>
                  </a:tcPr>
                </a:tc>
                <a:tc>
                  <a:txBody>
                    <a:bodyPr/>
                    <a:lstStyle/>
                    <a:p>
                      <a:pPr algn="ctr" indent="0" marL="0">
                        <a:lnSpc>
                          <a:spcPts val="2100"/>
                        </a:lnSpc>
                        <a:buNone/>
                      </a:pPr>
                      <a:r>
                        <a:rPr lang="en-US" sz="1500" b="1" dirty="0">
                          <a:solidFill>
                            <a:srgbClr val="595959"/>
                          </a:solidFill>
                          <a:latin typeface="Arial" pitchFamily="34" charset="0"/>
                          <a:ea typeface="Arial" pitchFamily="34" charset="-122"/>
                          <a:cs typeface="Arial" pitchFamily="34" charset="-120"/>
                        </a:rPr>
                        <a:t>Compiler</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ECECEC"/>
                    </a:solidFill>
                  </a:tcPr>
                </a:tc>
                <a:tc>
                  <a:txBody>
                    <a:bodyPr/>
                    <a:lstStyle/>
                    <a:p>
                      <a:pPr algn="ctr" indent="0" marL="0">
                        <a:lnSpc>
                          <a:spcPts val="2100"/>
                        </a:lnSpc>
                        <a:buNone/>
                      </a:pPr>
                      <a:r>
                        <a:rPr lang="en-US" sz="1500" b="1" dirty="0">
                          <a:solidFill>
                            <a:srgbClr val="595959"/>
                          </a:solidFill>
                          <a:latin typeface="Arial" pitchFamily="34" charset="0"/>
                          <a:ea typeface="Arial" pitchFamily="34" charset="-122"/>
                          <a:cs typeface="Arial" pitchFamily="34" charset="-120"/>
                        </a:rPr>
                        <a:t>Unit tests</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ECECEC"/>
                    </a:solidFill>
                  </a:tcPr>
                </a:tc>
                <a:tc>
                  <a:txBody>
                    <a:bodyPr/>
                    <a:lstStyle/>
                    <a:p>
                      <a:pPr algn="ctr" indent="0" marL="0">
                        <a:lnSpc>
                          <a:spcPts val="2100"/>
                        </a:lnSpc>
                        <a:buNone/>
                      </a:pPr>
                      <a:r>
                        <a:rPr lang="en-US" sz="1500" b="1" dirty="0">
                          <a:solidFill>
                            <a:srgbClr val="595959"/>
                          </a:solidFill>
                          <a:latin typeface="Arial" pitchFamily="34" charset="0"/>
                          <a:ea typeface="Arial" pitchFamily="34" charset="-122"/>
                          <a:cs typeface="Arial" pitchFamily="34" charset="-120"/>
                        </a:rPr>
                        <a:t>AI review</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ECECEC"/>
                    </a:solidFill>
                  </a:tcPr>
                </a:tc>
              </a:tr>
              <a:tr h="533400">
                <a:tc>
                  <a:txBody>
                    <a:bodyPr/>
                    <a:lstStyle/>
                    <a:p>
                      <a:pPr indent="0" marL="0">
                        <a:lnSpc>
                          <a:spcPts val="2100"/>
                        </a:lnSpc>
                        <a:buNone/>
                      </a:pPr>
                      <a:r>
                        <a:rPr lang="en-US" sz="1500" dirty="0">
                          <a:solidFill>
                            <a:srgbClr val="111111"/>
                          </a:solidFill>
                          <a:latin typeface="Arial" pitchFamily="34" charset="0"/>
                          <a:ea typeface="Arial" pitchFamily="34" charset="-122"/>
                          <a:cs typeface="Arial" pitchFamily="34" charset="-120"/>
                        </a:rPr>
                        <a:t>Unhandled exceptions</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5F6F7"/>
                    </a:solidFill>
                  </a:tcPr>
                </a:tc>
                <a:tc>
                  <a:txBody>
                    <a:bodyPr/>
                    <a:lstStyle/>
                    <a:p>
                      <a:pPr algn="ctr" indent="0" marL="0">
                        <a:lnSpc>
                          <a:spcPts val="2100"/>
                        </a:lnSpc>
                        <a:buNone/>
                      </a:pPr>
                      <a:r>
                        <a:rPr lang="en-US" sz="1500" dirty="0">
                          <a:solidFill>
                            <a:srgbClr val="111111"/>
                          </a:solidFill>
                          <a:latin typeface="Arial" pitchFamily="34" charset="0"/>
                          <a:ea typeface="Arial" pitchFamily="34" charset="-122"/>
                          <a:cs typeface="Arial" pitchFamily="34" charset="-120"/>
                        </a:rPr>
                        <a:t>No</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5F6F7"/>
                    </a:solidFill>
                  </a:tcPr>
                </a:tc>
                <a:tc>
                  <a:txBody>
                    <a:bodyPr/>
                    <a:lstStyle/>
                    <a:p>
                      <a:pPr algn="ctr" indent="0" marL="0">
                        <a:lnSpc>
                          <a:spcPts val="2100"/>
                        </a:lnSpc>
                        <a:buNone/>
                      </a:pPr>
                      <a:r>
                        <a:rPr lang="en-US" sz="1500" dirty="0">
                          <a:solidFill>
                            <a:srgbClr val="B45309"/>
                          </a:solidFill>
                          <a:latin typeface="Arial" pitchFamily="34" charset="0"/>
                          <a:ea typeface="Arial" pitchFamily="34" charset="-122"/>
                          <a:cs typeface="Arial" pitchFamily="34" charset="-120"/>
                        </a:rPr>
                        <a:t>Sometimes</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5F6F7"/>
                    </a:solidFill>
                  </a:tcPr>
                </a:tc>
                <a:tc>
                  <a:txBody>
                    <a:bodyPr/>
                    <a:lstStyle/>
                    <a:p>
                      <a:pPr algn="ctr" indent="0" marL="0">
                        <a:lnSpc>
                          <a:spcPts val="2100"/>
                        </a:lnSpc>
                        <a:buNone/>
                      </a:pPr>
                      <a:r>
                        <a:rPr lang="en-US" sz="1500" dirty="0">
                          <a:solidFill>
                            <a:srgbClr val="0E8F6F"/>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5F6F7"/>
                    </a:solidFill>
                  </a:tcPr>
                </a:tc>
              </a:tr>
              <a:tr h="533400">
                <a:tc>
                  <a:txBody>
                    <a:bodyPr/>
                    <a:lstStyle/>
                    <a:p>
                      <a:pPr indent="0" marL="0">
                        <a:lnSpc>
                          <a:spcPts val="2100"/>
                        </a:lnSpc>
                        <a:buNone/>
                      </a:pPr>
                      <a:r>
                        <a:rPr lang="en-US" sz="1500" dirty="0">
                          <a:solidFill>
                            <a:srgbClr val="111111"/>
                          </a:solidFill>
                          <a:latin typeface="Arial" pitchFamily="34" charset="0"/>
                          <a:ea typeface="Arial" pitchFamily="34" charset="-122"/>
                          <a:cs typeface="Arial" pitchFamily="34" charset="-120"/>
                        </a:rPr>
                        <a:t>Race conditions</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B45309"/>
                          </a:solidFill>
                          <a:latin typeface="Arial" pitchFamily="34" charset="0"/>
                          <a:ea typeface="Arial" pitchFamily="34" charset="-122"/>
                          <a:cs typeface="Arial" pitchFamily="34" charset="-120"/>
                        </a:rPr>
                        <a:t>No</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B45309"/>
                          </a:solidFill>
                          <a:latin typeface="Arial" pitchFamily="34" charset="0"/>
                          <a:ea typeface="Arial" pitchFamily="34" charset="-122"/>
                          <a:cs typeface="Arial" pitchFamily="34" charset="-120"/>
                        </a:rPr>
                        <a:t>Rarely</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0E8F6F"/>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33400">
                <a:tc>
                  <a:txBody>
                    <a:bodyPr/>
                    <a:lstStyle/>
                    <a:p>
                      <a:pPr indent="0" marL="0">
                        <a:lnSpc>
                          <a:spcPts val="2100"/>
                        </a:lnSpc>
                        <a:buNone/>
                      </a:pPr>
                      <a:r>
                        <a:rPr lang="en-US" sz="1500" dirty="0">
                          <a:solidFill>
                            <a:srgbClr val="111111"/>
                          </a:solidFill>
                          <a:latin typeface="Arial" pitchFamily="34" charset="0"/>
                          <a:ea typeface="Arial" pitchFamily="34" charset="-122"/>
                          <a:cs typeface="Arial" pitchFamily="34" charset="-120"/>
                        </a:rPr>
                        <a:t>@Transactional proxy bypass</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5F6F7"/>
                    </a:solidFill>
                  </a:tcPr>
                </a:tc>
                <a:tc>
                  <a:txBody>
                    <a:bodyPr/>
                    <a:lstStyle/>
                    <a:p>
                      <a:pPr algn="ctr" indent="0" marL="0">
                        <a:lnSpc>
                          <a:spcPts val="2100"/>
                        </a:lnSpc>
                        <a:buNone/>
                      </a:pPr>
                      <a:r>
                        <a:rPr lang="en-US" sz="1500" dirty="0">
                          <a:solidFill>
                            <a:srgbClr val="B45309"/>
                          </a:solidFill>
                          <a:latin typeface="Arial" pitchFamily="34" charset="0"/>
                          <a:ea typeface="Arial" pitchFamily="34" charset="-122"/>
                          <a:cs typeface="Arial" pitchFamily="34" charset="-120"/>
                        </a:rPr>
                        <a:t>No</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5F6F7"/>
                    </a:solidFill>
                  </a:tcPr>
                </a:tc>
                <a:tc>
                  <a:txBody>
                    <a:bodyPr/>
                    <a:lstStyle/>
                    <a:p>
                      <a:pPr algn="ctr" indent="0" marL="0">
                        <a:lnSpc>
                          <a:spcPts val="2100"/>
                        </a:lnSpc>
                        <a:buNone/>
                      </a:pPr>
                      <a:r>
                        <a:rPr lang="en-US" sz="1500" dirty="0">
                          <a:solidFill>
                            <a:srgbClr val="B45309"/>
                          </a:solidFill>
                          <a:latin typeface="Arial" pitchFamily="34" charset="0"/>
                          <a:ea typeface="Arial" pitchFamily="34" charset="-122"/>
                          <a:cs typeface="Arial" pitchFamily="34" charset="-120"/>
                        </a:rPr>
                        <a:t>Rarely</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5F6F7"/>
                    </a:solidFill>
                  </a:tcPr>
                </a:tc>
                <a:tc>
                  <a:txBody>
                    <a:bodyPr/>
                    <a:lstStyle/>
                    <a:p>
                      <a:pPr algn="ctr" indent="0" marL="0">
                        <a:lnSpc>
                          <a:spcPts val="2100"/>
                        </a:lnSpc>
                        <a:buNone/>
                      </a:pPr>
                      <a:r>
                        <a:rPr lang="en-US" sz="1500" dirty="0">
                          <a:solidFill>
                            <a:srgbClr val="0E8F6F"/>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5F6F7"/>
                    </a:solidFill>
                  </a:tcPr>
                </a:tc>
              </a:tr>
              <a:tr h="533400">
                <a:tc>
                  <a:txBody>
                    <a:bodyPr/>
                    <a:lstStyle/>
                    <a:p>
                      <a:pPr indent="0" marL="0">
                        <a:lnSpc>
                          <a:spcPts val="2100"/>
                        </a:lnSpc>
                        <a:buNone/>
                      </a:pPr>
                      <a:r>
                        <a:rPr lang="en-US" sz="1500" dirty="0">
                          <a:solidFill>
                            <a:srgbClr val="111111"/>
                          </a:solidFill>
                          <a:latin typeface="Arial" pitchFamily="34" charset="0"/>
                          <a:ea typeface="Arial" pitchFamily="34" charset="-122"/>
                          <a:cs typeface="Arial" pitchFamily="34" charset="-120"/>
                        </a:rPr>
                        <a:t>N+1 queries</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B45309"/>
                          </a:solidFill>
                          <a:latin typeface="Arial" pitchFamily="34" charset="0"/>
                          <a:ea typeface="Arial" pitchFamily="34" charset="-122"/>
                          <a:cs typeface="Arial" pitchFamily="34" charset="-120"/>
                        </a:rPr>
                        <a:t>No</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B45309"/>
                          </a:solidFill>
                          <a:latin typeface="Arial" pitchFamily="34" charset="0"/>
                          <a:ea typeface="Arial" pitchFamily="34" charset="-122"/>
                          <a:cs typeface="Arial" pitchFamily="34" charset="-120"/>
                        </a:rPr>
                        <a:t>Rarely</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0E8F6F"/>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33400">
                <a:tc>
                  <a:txBody>
                    <a:bodyPr/>
                    <a:lstStyle/>
                    <a:p>
                      <a:pPr indent="0" marL="0">
                        <a:lnSpc>
                          <a:spcPts val="2100"/>
                        </a:lnSpc>
                        <a:buNone/>
                      </a:pPr>
                      <a:r>
                        <a:rPr lang="en-US" sz="1500" dirty="0">
                          <a:solidFill>
                            <a:srgbClr val="111111"/>
                          </a:solidFill>
                          <a:latin typeface="Arial" pitchFamily="34" charset="0"/>
                          <a:ea typeface="Arial" pitchFamily="34" charset="-122"/>
                          <a:cs typeface="Arial" pitchFamily="34" charset="-120"/>
                        </a:rPr>
                        <a:t>Security vulnerabilities</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5F6F7"/>
                    </a:solidFill>
                  </a:tcPr>
                </a:tc>
                <a:tc>
                  <a:txBody>
                    <a:bodyPr/>
                    <a:lstStyle/>
                    <a:p>
                      <a:pPr algn="ctr" indent="0" marL="0">
                        <a:lnSpc>
                          <a:spcPts val="2100"/>
                        </a:lnSpc>
                        <a:buNone/>
                      </a:pPr>
                      <a:r>
                        <a:rPr lang="en-US" sz="1500" dirty="0">
                          <a:solidFill>
                            <a:srgbClr val="B45309"/>
                          </a:solidFill>
                          <a:latin typeface="Arial" pitchFamily="34" charset="0"/>
                          <a:ea typeface="Arial" pitchFamily="34" charset="-122"/>
                          <a:cs typeface="Arial" pitchFamily="34" charset="-120"/>
                        </a:rPr>
                        <a:t>No</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5F6F7"/>
                    </a:solidFill>
                  </a:tcPr>
                </a:tc>
                <a:tc>
                  <a:txBody>
                    <a:bodyPr/>
                    <a:lstStyle/>
                    <a:p>
                      <a:pPr algn="ctr" indent="0" marL="0">
                        <a:lnSpc>
                          <a:spcPts val="2100"/>
                        </a:lnSpc>
                        <a:buNone/>
                      </a:pPr>
                      <a:r>
                        <a:rPr lang="en-US" sz="1500" dirty="0">
                          <a:solidFill>
                            <a:srgbClr val="B45309"/>
                          </a:solidFill>
                          <a:latin typeface="Arial" pitchFamily="34" charset="0"/>
                          <a:ea typeface="Arial" pitchFamily="34" charset="-122"/>
                          <a:cs typeface="Arial" pitchFamily="34" charset="-120"/>
                        </a:rPr>
                        <a:t>Sometimes</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5F6F7"/>
                    </a:solidFill>
                  </a:tcPr>
                </a:tc>
                <a:tc>
                  <a:txBody>
                    <a:bodyPr/>
                    <a:lstStyle/>
                    <a:p>
                      <a:pPr algn="ctr" indent="0" marL="0">
                        <a:lnSpc>
                          <a:spcPts val="2100"/>
                        </a:lnSpc>
                        <a:buNone/>
                      </a:pPr>
                      <a:r>
                        <a:rPr lang="en-US" sz="1500" dirty="0">
                          <a:solidFill>
                            <a:srgbClr val="0E8F6F"/>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76200" marR="762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5F6F7"/>
                    </a:solidFill>
                  </a:tcPr>
                </a:tc>
              </a:tr>
            </a:tbl>
          </a:graphicData>
        </a:graphic>
      </p:graphicFrame>
      <p:sp>
        <p:nvSpPr>
          <p:cNvPr id="5" name="Shape 2"/>
          <p:cNvSpPr/>
          <p:nvPr/>
        </p:nvSpPr>
        <p:spPr>
          <a:xfrm>
            <a:off x="815975" y="5421015"/>
            <a:ext cx="10560050" cy="824210"/>
          </a:xfrm>
          <a:prstGeom prst="roundRect">
            <a:avLst>
              <a:gd name="adj" fmla="val 11942"/>
            </a:avLst>
          </a:prstGeom>
          <a:solidFill>
            <a:srgbClr val="F5F6F7"/>
          </a:solidFill>
          <a:ln w="6350">
            <a:solidFill>
              <a:srgbClr val="E0E0E0"/>
            </a:solidFill>
            <a:prstDash val="solid"/>
          </a:ln>
        </p:spPr>
      </p:sp>
      <p:pic>
        <p:nvPicPr>
          <p:cNvPr id="6" name="Image 0" descr="Lightbulb">    </p:cNvPr>
          <p:cNvPicPr>
            <a:picLocks noChangeAspect="1"/>
          </p:cNvPicPr>
          <p:nvPr/>
        </p:nvPicPr>
        <p:blipFill>
          <a:blip r:embed="rId1"/>
          <a:srcRect l="-88" r="-88" t="0" b="0"/>
          <a:stretch/>
        </p:blipFill>
        <p:spPr>
          <a:xfrm>
            <a:off x="1047750" y="5731520"/>
            <a:ext cx="197197" cy="203200"/>
          </a:xfrm>
          <a:prstGeom prst="rect">
            <a:avLst/>
          </a:prstGeom>
        </p:spPr>
      </p:pic>
      <p:sp>
        <p:nvSpPr>
          <p:cNvPr id="7" name="Text 3"/>
          <p:cNvSpPr/>
          <p:nvPr/>
        </p:nvSpPr>
        <p:spPr>
          <a:xfrm>
            <a:off x="1397347" y="5601990"/>
            <a:ext cx="1003931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11111"/>
                </a:solidFill>
                <a:latin typeface="Arial" pitchFamily="34" charset="0"/>
                <a:ea typeface="Arial" pitchFamily="34" charset="-122"/>
                <a:cs typeface="Arial" pitchFamily="34" charset="-120"/>
              </a:rPr>
              <a:t>Today's three demos live in the middle rows : invisible until a specific timing, a specific proxy call, or a specific data volume exposes them.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809659" y="304800"/>
            <a:ext cx="19305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@hackersmang #HMSep26</a:t>
            </a:r>
            <a:endParaRPr lang="en-US" sz="1200" dirty="0"/>
          </a:p>
        </p:txBody>
      </p:sp>
      <p:sp>
        <p:nvSpPr>
          <p:cNvPr id="3" name="Text 1"/>
          <p:cNvSpPr/>
          <p:nvPr/>
        </p:nvSpPr>
        <p:spPr>
          <a:xfrm>
            <a:off x="8795841" y="543520"/>
            <a:ext cx="2974803"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0E8F6F"/>
                </a:solidFill>
                <a:latin typeface="Arial" pitchFamily="34" charset="0"/>
                <a:ea typeface="Arial" pitchFamily="34" charset="-122"/>
                <a:cs typeface="Arial" pitchFamily="34" charset="-120"/>
              </a:rPr>
              <a:t>github.com/shreeprabha1217/HackersMang</a:t>
            </a:r>
            <a:endParaRPr lang="en-US" sz="1100" dirty="0"/>
          </a:p>
        </p:txBody>
      </p:sp>
      <p:sp>
        <p:nvSpPr>
          <p:cNvPr id="4" name="Text 2"/>
          <p:cNvSpPr/>
          <p:nvPr/>
        </p:nvSpPr>
        <p:spPr>
          <a:xfrm>
            <a:off x="812800" y="6096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E8F6F"/>
                </a:solidFill>
                <a:latin typeface="Arial" pitchFamily="34" charset="0"/>
                <a:ea typeface="Arial" pitchFamily="34" charset="-122"/>
                <a:cs typeface="Arial" pitchFamily="34" charset="-120"/>
              </a:rPr>
              <a:t>LIVE DEMO 1 / 3 : RACE CONDITION</a:t>
            </a:r>
            <a:endParaRPr lang="en-US" sz="1300" dirty="0"/>
          </a:p>
        </p:txBody>
      </p:sp>
      <p:sp>
        <p:nvSpPr>
          <p:cNvPr id="5" name="Text 3"/>
          <p:cNvSpPr/>
          <p:nvPr/>
        </p:nvSpPr>
        <p:spPr>
          <a:xfrm>
            <a:off x="812800" y="94233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11111"/>
                </a:solidFill>
                <a:latin typeface="Arial" pitchFamily="34" charset="0"/>
                <a:ea typeface="Arial" pitchFamily="34" charset="-122"/>
                <a:cs typeface="Arial" pitchFamily="34" charset="-120"/>
              </a:rPr>
              <a:t>Fixed with atomics</a:t>
            </a:r>
            <a:endParaRPr lang="en-US" sz="2800" dirty="0"/>
          </a:p>
        </p:txBody>
      </p:sp>
      <p:sp>
        <p:nvSpPr>
          <p:cNvPr id="6" name="Text 4"/>
          <p:cNvSpPr/>
          <p:nvPr/>
        </p:nvSpPr>
        <p:spPr>
          <a:xfrm>
            <a:off x="812800" y="1452860"/>
            <a:ext cx="1046480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95959"/>
                </a:solidFill>
                <a:latin typeface="Arial" pitchFamily="34" charset="0"/>
                <a:ea typeface="Arial" pitchFamily="34" charset="-122"/>
                <a:cs typeface="Arial" pitchFamily="34" charset="-120"/>
              </a:rPr>
              <a:t>count = count + 1, called concurrently, with no lock and no atomic type. It compiles. It passes every single-threaded test. Under real concurrency, updates get lost.</a:t>
            </a:r>
            <a:endParaRPr lang="en-US" sz="1400" dirty="0"/>
          </a:p>
        </p:txBody>
      </p:sp>
      <p:sp>
        <p:nvSpPr>
          <p:cNvPr id="7" name="Shape 5"/>
          <p:cNvSpPr/>
          <p:nvPr/>
        </p:nvSpPr>
        <p:spPr>
          <a:xfrm>
            <a:off x="815975" y="2218035"/>
            <a:ext cx="3397250" cy="1546423"/>
          </a:xfrm>
          <a:prstGeom prst="roundRect">
            <a:avLst>
              <a:gd name="adj" fmla="val 6365"/>
            </a:avLst>
          </a:prstGeom>
          <a:solidFill>
            <a:srgbClr val="F5F6F7"/>
          </a:solidFill>
          <a:ln w="6350">
            <a:solidFill>
              <a:srgbClr val="E0E0E0"/>
            </a:solidFill>
            <a:prstDash val="solid"/>
          </a:ln>
        </p:spPr>
      </p:sp>
      <p:pic>
        <p:nvPicPr>
          <p:cNvPr id="8" name="Image 0" descr="Warning">    </p:cNvPr>
          <p:cNvPicPr>
            <a:picLocks noChangeAspect="1"/>
          </p:cNvPicPr>
          <p:nvPr/>
        </p:nvPicPr>
        <p:blipFill>
          <a:blip r:embed="rId1"/>
          <a:srcRect l="0" r="0" t="0" b="0"/>
          <a:stretch/>
        </p:blipFill>
        <p:spPr>
          <a:xfrm>
            <a:off x="1022350" y="2424410"/>
            <a:ext cx="203200" cy="203200"/>
          </a:xfrm>
          <a:prstGeom prst="rect">
            <a:avLst/>
          </a:prstGeom>
        </p:spPr>
      </p:pic>
      <p:sp>
        <p:nvSpPr>
          <p:cNvPr id="9" name="Text 6"/>
          <p:cNvSpPr/>
          <p:nvPr/>
        </p:nvSpPr>
        <p:spPr>
          <a:xfrm>
            <a:off x="1022350" y="2703810"/>
            <a:ext cx="307403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Arial" pitchFamily="34" charset="0"/>
                <a:ea typeface="Arial" pitchFamily="34" charset="-122"/>
                <a:cs typeface="Arial" pitchFamily="34" charset="-120"/>
              </a:rPr>
              <a:t>The bug</a:t>
            </a:r>
            <a:endParaRPr lang="en-US" sz="1300" dirty="0"/>
          </a:p>
        </p:txBody>
      </p:sp>
      <p:sp>
        <p:nvSpPr>
          <p:cNvPr id="10" name="Text 7"/>
          <p:cNvSpPr/>
          <p:nvPr/>
        </p:nvSpPr>
        <p:spPr>
          <a:xfrm>
            <a:off x="1022350" y="2978100"/>
            <a:ext cx="3074035" cy="605383"/>
          </a:xfrm>
          <a:prstGeom prst="rect">
            <a:avLst/>
          </a:prstGeom>
          <a:noFill/>
          <a:ln/>
        </p:spPr>
        <p:txBody>
          <a:bodyPr wrap="square" lIns="0" tIns="0" rIns="0" bIns="0" rtlCol="0" anchor="t">
            <a:normAutofit/>
          </a:bodyPr>
          <a:lstStyle/>
          <a:p>
            <a:pPr algn="l" indent="0" marL="0">
              <a:lnSpc>
                <a:spcPts val="1523"/>
              </a:lnSpc>
              <a:buNone/>
            </a:pPr>
            <a:r>
              <a:rPr lang="en-US" sz="1050" dirty="0">
                <a:solidFill>
                  <a:srgbClr val="595959"/>
                </a:solidFill>
                <a:latin typeface="Arial" pitchFamily="34" charset="0"/>
                <a:ea typeface="Arial" pitchFamily="34" charset="-122"/>
                <a:cs typeface="Arial" pitchFamily="34" charset="-120"/>
              </a:rPr>
              <a:t>A shared counter, read-modify-write, no synchronization. Two threads read the same value; one update vanishes.</a:t>
            </a:r>
            <a:endParaRPr lang="en-US" sz="1050" dirty="0"/>
          </a:p>
        </p:txBody>
      </p:sp>
      <p:sp>
        <p:nvSpPr>
          <p:cNvPr id="11" name="Shape 8"/>
          <p:cNvSpPr/>
          <p:nvPr/>
        </p:nvSpPr>
        <p:spPr>
          <a:xfrm>
            <a:off x="4397375" y="2218035"/>
            <a:ext cx="3397250" cy="1546423"/>
          </a:xfrm>
          <a:prstGeom prst="roundRect">
            <a:avLst>
              <a:gd name="adj" fmla="val 6365"/>
            </a:avLst>
          </a:prstGeom>
          <a:solidFill>
            <a:srgbClr val="F5F6F7"/>
          </a:solidFill>
          <a:ln w="6350">
            <a:solidFill>
              <a:srgbClr val="E0E0E0"/>
            </a:solidFill>
            <a:prstDash val="solid"/>
          </a:ln>
        </p:spPr>
      </p:sp>
      <p:pic>
        <p:nvPicPr>
          <p:cNvPr id="12" name="Image 1" descr="Search">    </p:cNvPr>
          <p:cNvPicPr>
            <a:picLocks noChangeAspect="1"/>
          </p:cNvPicPr>
          <p:nvPr/>
        </p:nvPicPr>
        <p:blipFill>
          <a:blip r:embed="rId2"/>
          <a:srcRect l="0" r="0" t="0" b="0"/>
          <a:stretch/>
        </p:blipFill>
        <p:spPr>
          <a:xfrm>
            <a:off x="4603750" y="2424410"/>
            <a:ext cx="203200" cy="203200"/>
          </a:xfrm>
          <a:prstGeom prst="rect">
            <a:avLst/>
          </a:prstGeom>
        </p:spPr>
      </p:pic>
      <p:sp>
        <p:nvSpPr>
          <p:cNvPr id="13" name="Text 9"/>
          <p:cNvSpPr/>
          <p:nvPr/>
        </p:nvSpPr>
        <p:spPr>
          <a:xfrm>
            <a:off x="4603750" y="2703810"/>
            <a:ext cx="307403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Arial" pitchFamily="34" charset="0"/>
                <a:ea typeface="Arial" pitchFamily="34" charset="-122"/>
                <a:cs typeface="Arial" pitchFamily="34" charset="-120"/>
              </a:rPr>
              <a:t>What AI flags</a:t>
            </a:r>
            <a:endParaRPr lang="en-US" sz="1300" dirty="0"/>
          </a:p>
        </p:txBody>
      </p:sp>
      <p:sp>
        <p:nvSpPr>
          <p:cNvPr id="14" name="Text 10"/>
          <p:cNvSpPr/>
          <p:nvPr/>
        </p:nvSpPr>
        <p:spPr>
          <a:xfrm>
            <a:off x="4603750" y="2978100"/>
            <a:ext cx="3074035" cy="605383"/>
          </a:xfrm>
          <a:prstGeom prst="rect">
            <a:avLst/>
          </a:prstGeom>
          <a:noFill/>
          <a:ln/>
        </p:spPr>
        <p:txBody>
          <a:bodyPr wrap="square" lIns="0" tIns="0" rIns="0" bIns="0" rtlCol="0" anchor="t">
            <a:normAutofit/>
          </a:bodyPr>
          <a:lstStyle/>
          <a:p>
            <a:pPr algn="l" indent="0" marL="0">
              <a:lnSpc>
                <a:spcPts val="1523"/>
              </a:lnSpc>
              <a:buNone/>
            </a:pPr>
            <a:r>
              <a:rPr lang="en-US" sz="1050" dirty="0">
                <a:solidFill>
                  <a:srgbClr val="595959"/>
                </a:solidFill>
                <a:latin typeface="Arial" pitchFamily="34" charset="0"/>
                <a:ea typeface="Arial" pitchFamily="34" charset="-122"/>
                <a:cs typeface="Arial" pitchFamily="34" charset="-120"/>
              </a:rPr>
              <a:t>Non-atomic increment on shared state. Suggests AtomicInteger, synchronized, or an atomic UPDATE at the database.</a:t>
            </a:r>
            <a:endParaRPr lang="en-US" sz="1050" dirty="0"/>
          </a:p>
        </p:txBody>
      </p:sp>
      <p:sp>
        <p:nvSpPr>
          <p:cNvPr id="15" name="Shape 11"/>
          <p:cNvSpPr/>
          <p:nvPr/>
        </p:nvSpPr>
        <p:spPr>
          <a:xfrm>
            <a:off x="7978775" y="2218035"/>
            <a:ext cx="3397250" cy="1546423"/>
          </a:xfrm>
          <a:prstGeom prst="roundRect">
            <a:avLst>
              <a:gd name="adj" fmla="val 6365"/>
            </a:avLst>
          </a:prstGeom>
          <a:solidFill>
            <a:srgbClr val="FBEEE6"/>
          </a:solidFill>
          <a:ln w="6350">
            <a:solidFill>
              <a:srgbClr val="B45309"/>
            </a:solidFill>
            <a:prstDash val="solid"/>
          </a:ln>
        </p:spPr>
      </p:sp>
      <p:pic>
        <p:nvPicPr>
          <p:cNvPr id="16" name="Image 2" descr="Play">    </p:cNvPr>
          <p:cNvPicPr>
            <a:picLocks noChangeAspect="1"/>
          </p:cNvPicPr>
          <p:nvPr/>
        </p:nvPicPr>
        <p:blipFill>
          <a:blip r:embed="rId3"/>
          <a:srcRect l="0" r="0" t="0" b="0"/>
          <a:stretch/>
        </p:blipFill>
        <p:spPr>
          <a:xfrm>
            <a:off x="8185150" y="2424410"/>
            <a:ext cx="203200" cy="203200"/>
          </a:xfrm>
          <a:prstGeom prst="rect">
            <a:avLst/>
          </a:prstGeom>
        </p:spPr>
      </p:pic>
      <p:sp>
        <p:nvSpPr>
          <p:cNvPr id="17" name="Text 12"/>
          <p:cNvSpPr/>
          <p:nvPr/>
        </p:nvSpPr>
        <p:spPr>
          <a:xfrm>
            <a:off x="8185150" y="2703810"/>
            <a:ext cx="307403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5309"/>
                </a:solidFill>
                <a:latin typeface="Arial" pitchFamily="34" charset="0"/>
                <a:ea typeface="Arial" pitchFamily="34" charset="-122"/>
                <a:cs typeface="Arial" pitchFamily="34" charset="-120"/>
              </a:rPr>
              <a:t>Live now</a:t>
            </a:r>
            <a:endParaRPr lang="en-US" sz="1300" dirty="0"/>
          </a:p>
        </p:txBody>
      </p:sp>
      <p:sp>
        <p:nvSpPr>
          <p:cNvPr id="18" name="Text 13"/>
          <p:cNvSpPr/>
          <p:nvPr/>
        </p:nvSpPr>
        <p:spPr>
          <a:xfrm>
            <a:off x="8185150" y="2978100"/>
            <a:ext cx="3074035" cy="412055"/>
          </a:xfrm>
          <a:prstGeom prst="rect">
            <a:avLst/>
          </a:prstGeom>
          <a:noFill/>
          <a:ln/>
        </p:spPr>
        <p:txBody>
          <a:bodyPr wrap="square" lIns="0" tIns="0" rIns="0" bIns="0" rtlCol="0" anchor="t">
            <a:normAutofit/>
          </a:bodyPr>
          <a:lstStyle/>
          <a:p>
            <a:pPr algn="l" indent="0" marL="0">
              <a:lnSpc>
                <a:spcPts val="1523"/>
              </a:lnSpc>
              <a:buNone/>
            </a:pPr>
            <a:r>
              <a:rPr lang="en-US" sz="1050" b="1" dirty="0">
                <a:solidFill>
                  <a:srgbClr val="B45309"/>
                </a:solidFill>
                <a:latin typeface="Arial" pitchFamily="34" charset="0"/>
                <a:ea typeface="Arial" pitchFamily="34" charset="-122"/>
                <a:cs typeface="Arial" pitchFamily="34" charset="-120"/>
              </a:rPr>
              <a:t>Fire 1000 increments from 10 threads : watch the final count come up short.</a:t>
            </a:r>
            <a:endParaRPr lang="en-US" sz="1050" dirty="0"/>
          </a:p>
        </p:txBody>
      </p:sp>
      <p:sp>
        <p:nvSpPr>
          <p:cNvPr id="19" name="Shape 14"/>
          <p:cNvSpPr/>
          <p:nvPr/>
        </p:nvSpPr>
        <p:spPr>
          <a:xfrm>
            <a:off x="812800" y="3996234"/>
            <a:ext cx="10566400" cy="586730"/>
          </a:xfrm>
          <a:prstGeom prst="roundRect">
            <a:avLst>
              <a:gd name="adj" fmla="val 17316"/>
            </a:avLst>
          </a:prstGeom>
          <a:solidFill>
            <a:srgbClr val="0D1117"/>
          </a:solidFill>
          <a:ln/>
        </p:spPr>
      </p:sp>
      <p:sp>
        <p:nvSpPr>
          <p:cNvPr id="20" name="Text 15"/>
          <p:cNvSpPr/>
          <p:nvPr/>
        </p:nvSpPr>
        <p:spPr>
          <a:xfrm>
            <a:off x="1041400" y="4174034"/>
            <a:ext cx="495769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A93B"/>
                </a:solidFill>
                <a:latin typeface="JetBrains Mono" pitchFamily="34" charset="0"/>
                <a:ea typeface="JetBrains Mono" pitchFamily="34" charset="-122"/>
                <a:cs typeface="JetBrains Mono" pitchFamily="34" charset="-120"/>
              </a:rPr>
              <a:t>count = count + 1;</a:t>
            </a:r>
            <a:endParaRPr lang="en-US" sz="1300" dirty="0"/>
          </a:p>
        </p:txBody>
      </p:sp>
      <p:pic>
        <p:nvPicPr>
          <p:cNvPr id="21" name="Image 3" descr="Lightning">    </p:cNvPr>
          <p:cNvPicPr>
            <a:picLocks noChangeAspect="1"/>
          </p:cNvPicPr>
          <p:nvPr/>
        </p:nvPicPr>
        <p:blipFill>
          <a:blip r:embed="rId4"/>
          <a:srcRect l="0" r="0" t="0" b="0"/>
          <a:stretch/>
        </p:blipFill>
        <p:spPr>
          <a:xfrm>
            <a:off x="6007100" y="4200674"/>
            <a:ext cx="177800" cy="177800"/>
          </a:xfrm>
          <a:prstGeom prst="rect">
            <a:avLst/>
          </a:prstGeom>
        </p:spPr>
      </p:pic>
      <p:sp>
        <p:nvSpPr>
          <p:cNvPr id="22" name="Text 16"/>
          <p:cNvSpPr/>
          <p:nvPr/>
        </p:nvSpPr>
        <p:spPr>
          <a:xfrm>
            <a:off x="6192901" y="4174034"/>
            <a:ext cx="4957699" cy="25653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3FBF8F"/>
                </a:solidFill>
                <a:latin typeface="JetBrains Mono" pitchFamily="34" charset="0"/>
                <a:ea typeface="JetBrains Mono" pitchFamily="34" charset="-122"/>
                <a:cs typeface="JetBrains Mono" pitchFamily="34" charset="-120"/>
              </a:rPr>
              <a:t>count.incrementAndGet();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809659" y="304800"/>
            <a:ext cx="19305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@hackersmang #HMSep26</a:t>
            </a:r>
            <a:endParaRPr lang="en-US" sz="1200" dirty="0"/>
          </a:p>
        </p:txBody>
      </p:sp>
      <p:sp>
        <p:nvSpPr>
          <p:cNvPr id="3" name="Text 1"/>
          <p:cNvSpPr/>
          <p:nvPr/>
        </p:nvSpPr>
        <p:spPr>
          <a:xfrm>
            <a:off x="8795841" y="543520"/>
            <a:ext cx="2974803"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0E8F6F"/>
                </a:solidFill>
                <a:latin typeface="Arial" pitchFamily="34" charset="0"/>
                <a:ea typeface="Arial" pitchFamily="34" charset="-122"/>
                <a:cs typeface="Arial" pitchFamily="34" charset="-120"/>
              </a:rPr>
              <a:t>github.com/shreeprabha1217/HackersMang</a:t>
            </a:r>
            <a:endParaRPr lang="en-US" sz="1100" dirty="0"/>
          </a:p>
        </p:txBody>
      </p:sp>
      <p:sp>
        <p:nvSpPr>
          <p:cNvPr id="4" name="Text 2"/>
          <p:cNvSpPr/>
          <p:nvPr/>
        </p:nvSpPr>
        <p:spPr>
          <a:xfrm>
            <a:off x="812800" y="6096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E8F6F"/>
                </a:solidFill>
                <a:latin typeface="Arial" pitchFamily="34" charset="0"/>
                <a:ea typeface="Arial" pitchFamily="34" charset="-122"/>
                <a:cs typeface="Arial" pitchFamily="34" charset="-120"/>
              </a:rPr>
              <a:t>LIVE DEMO 2 / 3 : TRANSACTIONAL PROXY</a:t>
            </a:r>
            <a:endParaRPr lang="en-US" sz="1300" dirty="0"/>
          </a:p>
        </p:txBody>
      </p:sp>
      <p:sp>
        <p:nvSpPr>
          <p:cNvPr id="5" name="Text 3"/>
          <p:cNvSpPr/>
          <p:nvPr/>
        </p:nvSpPr>
        <p:spPr>
          <a:xfrm>
            <a:off x="812800" y="94233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11111"/>
                </a:solidFill>
                <a:latin typeface="Arial" pitchFamily="34" charset="0"/>
                <a:ea typeface="Arial" pitchFamily="34" charset="-122"/>
                <a:cs typeface="Arial" pitchFamily="34" charset="-120"/>
              </a:rPr>
              <a:t>@Transactional bypassing its own proxy</a:t>
            </a:r>
            <a:endParaRPr lang="en-US" sz="2800" dirty="0"/>
          </a:p>
        </p:txBody>
      </p:sp>
      <p:sp>
        <p:nvSpPr>
          <p:cNvPr id="6" name="Text 4"/>
          <p:cNvSpPr/>
          <p:nvPr/>
        </p:nvSpPr>
        <p:spPr>
          <a:xfrm>
            <a:off x="812800" y="1452860"/>
            <a:ext cx="10791825"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95959"/>
                </a:solidFill>
                <a:latin typeface="Arial" pitchFamily="34" charset="0"/>
                <a:ea typeface="Arial" pitchFamily="34" charset="-122"/>
                <a:cs typeface="Arial" pitchFamily="34" charset="-120"/>
              </a:rPr>
              <a:t>A method calls another @Transactional method on "this", inside the same class. Spring's transactional advice silently never fires : no exception, no warning.</a:t>
            </a:r>
            <a:endParaRPr lang="en-US" sz="1400" dirty="0"/>
          </a:p>
        </p:txBody>
      </p:sp>
      <p:sp>
        <p:nvSpPr>
          <p:cNvPr id="7" name="Shape 5"/>
          <p:cNvSpPr/>
          <p:nvPr/>
        </p:nvSpPr>
        <p:spPr>
          <a:xfrm>
            <a:off x="815975" y="2218035"/>
            <a:ext cx="3397250" cy="1546423"/>
          </a:xfrm>
          <a:prstGeom prst="roundRect">
            <a:avLst>
              <a:gd name="adj" fmla="val 6365"/>
            </a:avLst>
          </a:prstGeom>
          <a:solidFill>
            <a:srgbClr val="F5F6F7"/>
          </a:solidFill>
          <a:ln w="6350">
            <a:solidFill>
              <a:srgbClr val="E0E0E0"/>
            </a:solidFill>
            <a:prstDash val="solid"/>
          </a:ln>
        </p:spPr>
      </p:sp>
      <p:pic>
        <p:nvPicPr>
          <p:cNvPr id="8" name="Image 0" descr="Warning">    </p:cNvPr>
          <p:cNvPicPr>
            <a:picLocks noChangeAspect="1"/>
          </p:cNvPicPr>
          <p:nvPr/>
        </p:nvPicPr>
        <p:blipFill>
          <a:blip r:embed="rId1"/>
          <a:srcRect l="0" r="0" t="0" b="0"/>
          <a:stretch/>
        </p:blipFill>
        <p:spPr>
          <a:xfrm>
            <a:off x="1022350" y="2424410"/>
            <a:ext cx="203200" cy="203200"/>
          </a:xfrm>
          <a:prstGeom prst="rect">
            <a:avLst/>
          </a:prstGeom>
        </p:spPr>
      </p:pic>
      <p:sp>
        <p:nvSpPr>
          <p:cNvPr id="9" name="Text 6"/>
          <p:cNvSpPr/>
          <p:nvPr/>
        </p:nvSpPr>
        <p:spPr>
          <a:xfrm>
            <a:off x="1022350" y="2703810"/>
            <a:ext cx="307403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Arial" pitchFamily="34" charset="0"/>
                <a:ea typeface="Arial" pitchFamily="34" charset="-122"/>
                <a:cs typeface="Arial" pitchFamily="34" charset="-120"/>
              </a:rPr>
              <a:t>The bug</a:t>
            </a:r>
            <a:endParaRPr lang="en-US" sz="1300" dirty="0"/>
          </a:p>
        </p:txBody>
      </p:sp>
      <p:sp>
        <p:nvSpPr>
          <p:cNvPr id="10" name="Text 7"/>
          <p:cNvSpPr/>
          <p:nvPr/>
        </p:nvSpPr>
        <p:spPr>
          <a:xfrm>
            <a:off x="1022350" y="2978100"/>
            <a:ext cx="3074035" cy="412055"/>
          </a:xfrm>
          <a:prstGeom prst="rect">
            <a:avLst/>
          </a:prstGeom>
          <a:noFill/>
          <a:ln/>
        </p:spPr>
        <p:txBody>
          <a:bodyPr wrap="square" lIns="0" tIns="0" rIns="0" bIns="0" rtlCol="0" anchor="t">
            <a:normAutofit/>
          </a:bodyPr>
          <a:lstStyle/>
          <a:p>
            <a:pPr algn="l" indent="0" marL="0">
              <a:lnSpc>
                <a:spcPts val="1523"/>
              </a:lnSpc>
              <a:buNone/>
            </a:pPr>
            <a:r>
              <a:rPr lang="en-US" sz="1050" dirty="0">
                <a:solidFill>
                  <a:srgbClr val="595959"/>
                </a:solidFill>
                <a:latin typeface="Arial" pitchFamily="34" charset="0"/>
                <a:ea typeface="Arial" pitchFamily="34" charset="-122"/>
                <a:cs typeface="Arial" pitchFamily="34" charset="-120"/>
              </a:rPr>
              <a:t>this.saveOrder() skips the Spring proxy entirely, so the @Transactional boundary is never applied.</a:t>
            </a:r>
            <a:endParaRPr lang="en-US" sz="1050" dirty="0"/>
          </a:p>
        </p:txBody>
      </p:sp>
      <p:sp>
        <p:nvSpPr>
          <p:cNvPr id="11" name="Shape 8"/>
          <p:cNvSpPr/>
          <p:nvPr/>
        </p:nvSpPr>
        <p:spPr>
          <a:xfrm>
            <a:off x="4397375" y="2218035"/>
            <a:ext cx="3397250" cy="1546423"/>
          </a:xfrm>
          <a:prstGeom prst="roundRect">
            <a:avLst>
              <a:gd name="adj" fmla="val 6365"/>
            </a:avLst>
          </a:prstGeom>
          <a:solidFill>
            <a:srgbClr val="F5F6F7"/>
          </a:solidFill>
          <a:ln w="6350">
            <a:solidFill>
              <a:srgbClr val="E0E0E0"/>
            </a:solidFill>
            <a:prstDash val="solid"/>
          </a:ln>
        </p:spPr>
      </p:sp>
      <p:pic>
        <p:nvPicPr>
          <p:cNvPr id="12" name="Image 1" descr="Search">    </p:cNvPr>
          <p:cNvPicPr>
            <a:picLocks noChangeAspect="1"/>
          </p:cNvPicPr>
          <p:nvPr/>
        </p:nvPicPr>
        <p:blipFill>
          <a:blip r:embed="rId2"/>
          <a:srcRect l="0" r="0" t="0" b="0"/>
          <a:stretch/>
        </p:blipFill>
        <p:spPr>
          <a:xfrm>
            <a:off x="4603750" y="2424410"/>
            <a:ext cx="203200" cy="203200"/>
          </a:xfrm>
          <a:prstGeom prst="rect">
            <a:avLst/>
          </a:prstGeom>
        </p:spPr>
      </p:pic>
      <p:sp>
        <p:nvSpPr>
          <p:cNvPr id="13" name="Text 9"/>
          <p:cNvSpPr/>
          <p:nvPr/>
        </p:nvSpPr>
        <p:spPr>
          <a:xfrm>
            <a:off x="4603750" y="2703810"/>
            <a:ext cx="307403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Arial" pitchFamily="34" charset="0"/>
                <a:ea typeface="Arial" pitchFamily="34" charset="-122"/>
                <a:cs typeface="Arial" pitchFamily="34" charset="-120"/>
              </a:rPr>
              <a:t>What AI flags</a:t>
            </a:r>
            <a:endParaRPr lang="en-US" sz="1300" dirty="0"/>
          </a:p>
        </p:txBody>
      </p:sp>
      <p:sp>
        <p:nvSpPr>
          <p:cNvPr id="14" name="Text 10"/>
          <p:cNvSpPr/>
          <p:nvPr/>
        </p:nvSpPr>
        <p:spPr>
          <a:xfrm>
            <a:off x="4603750" y="2978100"/>
            <a:ext cx="3074035" cy="605383"/>
          </a:xfrm>
          <a:prstGeom prst="rect">
            <a:avLst/>
          </a:prstGeom>
          <a:noFill/>
          <a:ln/>
        </p:spPr>
        <p:txBody>
          <a:bodyPr wrap="square" lIns="0" tIns="0" rIns="0" bIns="0" rtlCol="0" anchor="t">
            <a:normAutofit/>
          </a:bodyPr>
          <a:lstStyle/>
          <a:p>
            <a:pPr algn="l" indent="0" marL="0">
              <a:lnSpc>
                <a:spcPts val="1523"/>
              </a:lnSpc>
              <a:buNone/>
            </a:pPr>
            <a:r>
              <a:rPr lang="en-US" sz="1050" dirty="0">
                <a:solidFill>
                  <a:srgbClr val="595959"/>
                </a:solidFill>
                <a:latin typeface="Arial" pitchFamily="34" charset="0"/>
                <a:ea typeface="Arial" pitchFamily="34" charset="-122"/>
                <a:cs typeface="Arial" pitchFamily="34" charset="-120"/>
              </a:rPr>
              <a:t>Self-invocation of an annotated method, and why the proxy mechanism means the annotation is silently ignored.</a:t>
            </a:r>
            <a:endParaRPr lang="en-US" sz="1050" dirty="0"/>
          </a:p>
        </p:txBody>
      </p:sp>
      <p:sp>
        <p:nvSpPr>
          <p:cNvPr id="15" name="Shape 11"/>
          <p:cNvSpPr/>
          <p:nvPr/>
        </p:nvSpPr>
        <p:spPr>
          <a:xfrm>
            <a:off x="7978775" y="2218035"/>
            <a:ext cx="3397250" cy="1546423"/>
          </a:xfrm>
          <a:prstGeom prst="roundRect">
            <a:avLst>
              <a:gd name="adj" fmla="val 6365"/>
            </a:avLst>
          </a:prstGeom>
          <a:solidFill>
            <a:srgbClr val="FBEEE6"/>
          </a:solidFill>
          <a:ln w="6350">
            <a:solidFill>
              <a:srgbClr val="B45309"/>
            </a:solidFill>
            <a:prstDash val="solid"/>
          </a:ln>
        </p:spPr>
      </p:sp>
      <p:pic>
        <p:nvPicPr>
          <p:cNvPr id="16" name="Image 2" descr="Play">    </p:cNvPr>
          <p:cNvPicPr>
            <a:picLocks noChangeAspect="1"/>
          </p:cNvPicPr>
          <p:nvPr/>
        </p:nvPicPr>
        <p:blipFill>
          <a:blip r:embed="rId3"/>
          <a:srcRect l="0" r="0" t="0" b="0"/>
          <a:stretch/>
        </p:blipFill>
        <p:spPr>
          <a:xfrm>
            <a:off x="8185150" y="2424410"/>
            <a:ext cx="203200" cy="203200"/>
          </a:xfrm>
          <a:prstGeom prst="rect">
            <a:avLst/>
          </a:prstGeom>
        </p:spPr>
      </p:pic>
      <p:sp>
        <p:nvSpPr>
          <p:cNvPr id="17" name="Text 12"/>
          <p:cNvSpPr/>
          <p:nvPr/>
        </p:nvSpPr>
        <p:spPr>
          <a:xfrm>
            <a:off x="8185150" y="2703810"/>
            <a:ext cx="307403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5309"/>
                </a:solidFill>
                <a:latin typeface="Arial" pitchFamily="34" charset="0"/>
                <a:ea typeface="Arial" pitchFamily="34" charset="-122"/>
                <a:cs typeface="Arial" pitchFamily="34" charset="-120"/>
              </a:rPr>
              <a:t>Live now</a:t>
            </a:r>
            <a:endParaRPr lang="en-US" sz="1300" dirty="0"/>
          </a:p>
        </p:txBody>
      </p:sp>
      <p:sp>
        <p:nvSpPr>
          <p:cNvPr id="18" name="Text 13"/>
          <p:cNvSpPr/>
          <p:nvPr/>
        </p:nvSpPr>
        <p:spPr>
          <a:xfrm>
            <a:off x="8185150" y="2978100"/>
            <a:ext cx="3074035" cy="412055"/>
          </a:xfrm>
          <a:prstGeom prst="rect">
            <a:avLst/>
          </a:prstGeom>
          <a:noFill/>
          <a:ln/>
        </p:spPr>
        <p:txBody>
          <a:bodyPr wrap="square" lIns="0" tIns="0" rIns="0" bIns="0" rtlCol="0" anchor="t">
            <a:normAutofit/>
          </a:bodyPr>
          <a:lstStyle/>
          <a:p>
            <a:pPr algn="l" indent="0" marL="0">
              <a:lnSpc>
                <a:spcPts val="1523"/>
              </a:lnSpc>
              <a:buNone/>
            </a:pPr>
            <a:r>
              <a:rPr lang="en-US" sz="1050" b="1" dirty="0">
                <a:solidFill>
                  <a:srgbClr val="B45309"/>
                </a:solidFill>
                <a:latin typeface="Arial" pitchFamily="34" charset="0"/>
                <a:ea typeface="Arial" pitchFamily="34" charset="-122"/>
                <a:cs typeface="Arial" pitchFamily="34" charset="-120"/>
              </a:rPr>
              <a:t>Throw an exception right after saveOrder() : the "rolled back" order stays in the database.</a:t>
            </a:r>
            <a:endParaRPr lang="en-US" sz="1050" dirty="0"/>
          </a:p>
        </p:txBody>
      </p:sp>
      <p:sp>
        <p:nvSpPr>
          <p:cNvPr id="19" name="Shape 14"/>
          <p:cNvSpPr/>
          <p:nvPr/>
        </p:nvSpPr>
        <p:spPr>
          <a:xfrm>
            <a:off x="812800" y="3996234"/>
            <a:ext cx="10566400" cy="586730"/>
          </a:xfrm>
          <a:prstGeom prst="roundRect">
            <a:avLst>
              <a:gd name="adj" fmla="val 17316"/>
            </a:avLst>
          </a:prstGeom>
          <a:solidFill>
            <a:srgbClr val="0D1117"/>
          </a:solidFill>
          <a:ln/>
        </p:spPr>
      </p:sp>
      <p:sp>
        <p:nvSpPr>
          <p:cNvPr id="20" name="Text 15"/>
          <p:cNvSpPr/>
          <p:nvPr/>
        </p:nvSpPr>
        <p:spPr>
          <a:xfrm>
            <a:off x="1041400" y="4174034"/>
            <a:ext cx="495769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A93B"/>
                </a:solidFill>
                <a:latin typeface="JetBrains Mono" pitchFamily="34" charset="0"/>
                <a:ea typeface="JetBrains Mono" pitchFamily="34" charset="-122"/>
                <a:cs typeface="JetBrains Mono" pitchFamily="34" charset="-120"/>
              </a:rPr>
              <a:t>this.saveOrder(order);</a:t>
            </a:r>
            <a:endParaRPr lang="en-US" sz="1300" dirty="0"/>
          </a:p>
        </p:txBody>
      </p:sp>
      <p:pic>
        <p:nvPicPr>
          <p:cNvPr id="21" name="Image 3" descr="Lightning">    </p:cNvPr>
          <p:cNvPicPr>
            <a:picLocks noChangeAspect="1"/>
          </p:cNvPicPr>
          <p:nvPr/>
        </p:nvPicPr>
        <p:blipFill>
          <a:blip r:embed="rId4"/>
          <a:srcRect l="0" r="0" t="0" b="0"/>
          <a:stretch/>
        </p:blipFill>
        <p:spPr>
          <a:xfrm>
            <a:off x="6007100" y="4200674"/>
            <a:ext cx="177800" cy="177800"/>
          </a:xfrm>
          <a:prstGeom prst="rect">
            <a:avLst/>
          </a:prstGeom>
        </p:spPr>
      </p:pic>
      <p:sp>
        <p:nvSpPr>
          <p:cNvPr id="22" name="Text 16"/>
          <p:cNvSpPr/>
          <p:nvPr/>
        </p:nvSpPr>
        <p:spPr>
          <a:xfrm>
            <a:off x="6192901" y="4191794"/>
            <a:ext cx="4957699" cy="220960"/>
          </a:xfrm>
          <a:prstGeom prst="rect">
            <a:avLst/>
          </a:prstGeom>
          <a:noFill/>
          <a:ln/>
        </p:spPr>
        <p:txBody>
          <a:bodyPr wrap="square" lIns="0" tIns="0" rIns="0" bIns="0" rtlCol="0" anchor="t">
            <a:normAutofit/>
          </a:bodyPr>
          <a:lstStyle/>
          <a:p>
            <a:pPr algn="r" indent="0" marL="0">
              <a:lnSpc>
                <a:spcPts val="1540"/>
              </a:lnSpc>
              <a:buNone/>
            </a:pPr>
            <a:r>
              <a:rPr lang="en-US" sz="1100" dirty="0">
                <a:solidFill>
                  <a:srgbClr val="3FBF8F"/>
                </a:solidFill>
                <a:latin typeface="JetBrains Mono" pitchFamily="34" charset="0"/>
                <a:ea typeface="JetBrains Mono" pitchFamily="34" charset="-122"/>
                <a:cs typeface="JetBrains Mono" pitchFamily="34" charset="-120"/>
              </a:rPr>
              <a:t>split beans, or AopContext.currentProxy()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809659" y="304800"/>
            <a:ext cx="19305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@hackersmang #HMSep26</a:t>
            </a:r>
            <a:endParaRPr lang="en-US" sz="1200" dirty="0"/>
          </a:p>
        </p:txBody>
      </p:sp>
      <p:sp>
        <p:nvSpPr>
          <p:cNvPr id="3" name="Text 1"/>
          <p:cNvSpPr/>
          <p:nvPr/>
        </p:nvSpPr>
        <p:spPr>
          <a:xfrm>
            <a:off x="8795841" y="543520"/>
            <a:ext cx="2974803"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0E8F6F"/>
                </a:solidFill>
                <a:latin typeface="Arial" pitchFamily="34" charset="0"/>
                <a:ea typeface="Arial" pitchFamily="34" charset="-122"/>
                <a:cs typeface="Arial" pitchFamily="34" charset="-120"/>
              </a:rPr>
              <a:t>github.com/shreeprabha1217/HackersMang</a:t>
            </a:r>
            <a:endParaRPr lang="en-US" sz="1100" dirty="0"/>
          </a:p>
        </p:txBody>
      </p:sp>
      <p:sp>
        <p:nvSpPr>
          <p:cNvPr id="4" name="Text 2"/>
          <p:cNvSpPr/>
          <p:nvPr/>
        </p:nvSpPr>
        <p:spPr>
          <a:xfrm>
            <a:off x="812800" y="6096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E8F6F"/>
                </a:solidFill>
                <a:latin typeface="Arial" pitchFamily="34" charset="0"/>
                <a:ea typeface="Arial" pitchFamily="34" charset="-122"/>
                <a:cs typeface="Arial" pitchFamily="34" charset="-120"/>
              </a:rPr>
              <a:t>LIVE DEMO 3 / 3 : N+1 QUERIES</a:t>
            </a:r>
            <a:endParaRPr lang="en-US" sz="1300" dirty="0"/>
          </a:p>
        </p:txBody>
      </p:sp>
      <p:sp>
        <p:nvSpPr>
          <p:cNvPr id="5" name="Text 3"/>
          <p:cNvSpPr/>
          <p:nvPr/>
        </p:nvSpPr>
        <p:spPr>
          <a:xfrm>
            <a:off x="812800" y="94233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11111"/>
                </a:solidFill>
                <a:latin typeface="Arial" pitchFamily="34" charset="0"/>
                <a:ea typeface="Arial" pitchFamily="34" charset="-122"/>
                <a:cs typeface="Arial" pitchFamily="34" charset="-120"/>
              </a:rPr>
              <a:t>The N+1 query problem</a:t>
            </a:r>
            <a:endParaRPr lang="en-US" sz="2800" dirty="0"/>
          </a:p>
        </p:txBody>
      </p:sp>
      <p:sp>
        <p:nvSpPr>
          <p:cNvPr id="6" name="Text 4"/>
          <p:cNvSpPr/>
          <p:nvPr/>
        </p:nvSpPr>
        <p:spPr>
          <a:xfrm>
            <a:off x="812800" y="1452860"/>
            <a:ext cx="1046480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95959"/>
                </a:solidFill>
                <a:latin typeface="Arial" pitchFamily="34" charset="0"/>
                <a:ea typeface="Arial" pitchFamily="34" charset="-122"/>
                <a:cs typeface="Arial" pitchFamily="34" charset="-120"/>
              </a:rPr>
              <a:t>A lazy-loaded JPA collection, accessed inside a loop. One query becomes N+1 : invisible in code review, obvious the moment you look at the SQL log.</a:t>
            </a:r>
            <a:endParaRPr lang="en-US" sz="1400" dirty="0"/>
          </a:p>
        </p:txBody>
      </p:sp>
      <p:sp>
        <p:nvSpPr>
          <p:cNvPr id="7" name="Shape 5"/>
          <p:cNvSpPr/>
          <p:nvPr/>
        </p:nvSpPr>
        <p:spPr>
          <a:xfrm>
            <a:off x="815975" y="2218035"/>
            <a:ext cx="3397250" cy="1546423"/>
          </a:xfrm>
          <a:prstGeom prst="roundRect">
            <a:avLst>
              <a:gd name="adj" fmla="val 6365"/>
            </a:avLst>
          </a:prstGeom>
          <a:solidFill>
            <a:srgbClr val="F5F6F7"/>
          </a:solidFill>
          <a:ln w="6350">
            <a:solidFill>
              <a:srgbClr val="E0E0E0"/>
            </a:solidFill>
            <a:prstDash val="solid"/>
          </a:ln>
        </p:spPr>
      </p:sp>
      <p:pic>
        <p:nvPicPr>
          <p:cNvPr id="8" name="Image 0" descr="Warning">    </p:cNvPr>
          <p:cNvPicPr>
            <a:picLocks noChangeAspect="1"/>
          </p:cNvPicPr>
          <p:nvPr/>
        </p:nvPicPr>
        <p:blipFill>
          <a:blip r:embed="rId1"/>
          <a:srcRect l="0" r="0" t="0" b="0"/>
          <a:stretch/>
        </p:blipFill>
        <p:spPr>
          <a:xfrm>
            <a:off x="1022350" y="2424410"/>
            <a:ext cx="203200" cy="203200"/>
          </a:xfrm>
          <a:prstGeom prst="rect">
            <a:avLst/>
          </a:prstGeom>
        </p:spPr>
      </p:pic>
      <p:sp>
        <p:nvSpPr>
          <p:cNvPr id="9" name="Text 6"/>
          <p:cNvSpPr/>
          <p:nvPr/>
        </p:nvSpPr>
        <p:spPr>
          <a:xfrm>
            <a:off x="1022350" y="2703810"/>
            <a:ext cx="307403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Arial" pitchFamily="34" charset="0"/>
                <a:ea typeface="Arial" pitchFamily="34" charset="-122"/>
                <a:cs typeface="Arial" pitchFamily="34" charset="-120"/>
              </a:rPr>
              <a:t>The bug</a:t>
            </a:r>
            <a:endParaRPr lang="en-US" sz="1300" dirty="0"/>
          </a:p>
        </p:txBody>
      </p:sp>
      <p:sp>
        <p:nvSpPr>
          <p:cNvPr id="10" name="Text 7"/>
          <p:cNvSpPr/>
          <p:nvPr/>
        </p:nvSpPr>
        <p:spPr>
          <a:xfrm>
            <a:off x="1022350" y="2978100"/>
            <a:ext cx="3074035" cy="412055"/>
          </a:xfrm>
          <a:prstGeom prst="rect">
            <a:avLst/>
          </a:prstGeom>
          <a:noFill/>
          <a:ln/>
        </p:spPr>
        <p:txBody>
          <a:bodyPr wrap="square" lIns="0" tIns="0" rIns="0" bIns="0" rtlCol="0" anchor="t">
            <a:normAutofit/>
          </a:bodyPr>
          <a:lstStyle/>
          <a:p>
            <a:pPr algn="l" indent="0" marL="0">
              <a:lnSpc>
                <a:spcPts val="1523"/>
              </a:lnSpc>
              <a:buNone/>
            </a:pPr>
            <a:r>
              <a:rPr lang="en-US" sz="1050" dirty="0">
                <a:solidFill>
                  <a:srgbClr val="595959"/>
                </a:solidFill>
                <a:latin typeface="Arial" pitchFamily="34" charset="0"/>
                <a:ea typeface="Arial" pitchFamily="34" charset="-122"/>
                <a:cs typeface="Arial" pitchFamily="34" charset="-120"/>
              </a:rPr>
              <a:t>order.getItems() inside a loop triggers one lazy-load query per order : 1 query becomes 201.</a:t>
            </a:r>
            <a:endParaRPr lang="en-US" sz="1050" dirty="0"/>
          </a:p>
        </p:txBody>
      </p:sp>
      <p:sp>
        <p:nvSpPr>
          <p:cNvPr id="11" name="Shape 8"/>
          <p:cNvSpPr/>
          <p:nvPr/>
        </p:nvSpPr>
        <p:spPr>
          <a:xfrm>
            <a:off x="4397375" y="2218035"/>
            <a:ext cx="3397250" cy="1546423"/>
          </a:xfrm>
          <a:prstGeom prst="roundRect">
            <a:avLst>
              <a:gd name="adj" fmla="val 6365"/>
            </a:avLst>
          </a:prstGeom>
          <a:solidFill>
            <a:srgbClr val="F5F6F7"/>
          </a:solidFill>
          <a:ln w="6350">
            <a:solidFill>
              <a:srgbClr val="E0E0E0"/>
            </a:solidFill>
            <a:prstDash val="solid"/>
          </a:ln>
        </p:spPr>
      </p:sp>
      <p:pic>
        <p:nvPicPr>
          <p:cNvPr id="12" name="Image 1" descr="Search">    </p:cNvPr>
          <p:cNvPicPr>
            <a:picLocks noChangeAspect="1"/>
          </p:cNvPicPr>
          <p:nvPr/>
        </p:nvPicPr>
        <p:blipFill>
          <a:blip r:embed="rId2"/>
          <a:srcRect l="0" r="0" t="0" b="0"/>
          <a:stretch/>
        </p:blipFill>
        <p:spPr>
          <a:xfrm>
            <a:off x="4603750" y="2424410"/>
            <a:ext cx="203200" cy="203200"/>
          </a:xfrm>
          <a:prstGeom prst="rect">
            <a:avLst/>
          </a:prstGeom>
        </p:spPr>
      </p:pic>
      <p:sp>
        <p:nvSpPr>
          <p:cNvPr id="13" name="Text 9"/>
          <p:cNvSpPr/>
          <p:nvPr/>
        </p:nvSpPr>
        <p:spPr>
          <a:xfrm>
            <a:off x="4603750" y="2703810"/>
            <a:ext cx="307403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11111"/>
                </a:solidFill>
                <a:latin typeface="Arial" pitchFamily="34" charset="0"/>
                <a:ea typeface="Arial" pitchFamily="34" charset="-122"/>
                <a:cs typeface="Arial" pitchFamily="34" charset="-120"/>
              </a:rPr>
              <a:t>What AI flags</a:t>
            </a:r>
            <a:endParaRPr lang="en-US" sz="1300" dirty="0"/>
          </a:p>
        </p:txBody>
      </p:sp>
      <p:sp>
        <p:nvSpPr>
          <p:cNvPr id="14" name="Text 10"/>
          <p:cNvSpPr/>
          <p:nvPr/>
        </p:nvSpPr>
        <p:spPr>
          <a:xfrm>
            <a:off x="4603750" y="2978100"/>
            <a:ext cx="3074035" cy="412055"/>
          </a:xfrm>
          <a:prstGeom prst="rect">
            <a:avLst/>
          </a:prstGeom>
          <a:noFill/>
          <a:ln/>
        </p:spPr>
        <p:txBody>
          <a:bodyPr wrap="square" lIns="0" tIns="0" rIns="0" bIns="0" rtlCol="0" anchor="t">
            <a:normAutofit/>
          </a:bodyPr>
          <a:lstStyle/>
          <a:p>
            <a:pPr algn="l" indent="0" marL="0">
              <a:lnSpc>
                <a:spcPts val="1523"/>
              </a:lnSpc>
              <a:buNone/>
            </a:pPr>
            <a:r>
              <a:rPr lang="en-US" sz="1050" dirty="0">
                <a:solidFill>
                  <a:srgbClr val="595959"/>
                </a:solidFill>
                <a:latin typeface="Arial" pitchFamily="34" charset="0"/>
                <a:ea typeface="Arial" pitchFamily="34" charset="-122"/>
                <a:cs typeface="Arial" pitchFamily="34" charset="-120"/>
              </a:rPr>
              <a:t>Lazy association accessed in a loop. Suggests JOIN FETCH, @EntityGraph, or a DTO projection.</a:t>
            </a:r>
            <a:endParaRPr lang="en-US" sz="1050" dirty="0"/>
          </a:p>
        </p:txBody>
      </p:sp>
      <p:sp>
        <p:nvSpPr>
          <p:cNvPr id="15" name="Shape 11"/>
          <p:cNvSpPr/>
          <p:nvPr/>
        </p:nvSpPr>
        <p:spPr>
          <a:xfrm>
            <a:off x="7978775" y="2218035"/>
            <a:ext cx="3397250" cy="1546423"/>
          </a:xfrm>
          <a:prstGeom prst="roundRect">
            <a:avLst>
              <a:gd name="adj" fmla="val 6365"/>
            </a:avLst>
          </a:prstGeom>
          <a:solidFill>
            <a:srgbClr val="FBEEE6"/>
          </a:solidFill>
          <a:ln w="6350">
            <a:solidFill>
              <a:srgbClr val="B45309"/>
            </a:solidFill>
            <a:prstDash val="solid"/>
          </a:ln>
        </p:spPr>
      </p:sp>
      <p:pic>
        <p:nvPicPr>
          <p:cNvPr id="16" name="Image 2" descr="Play">    </p:cNvPr>
          <p:cNvPicPr>
            <a:picLocks noChangeAspect="1"/>
          </p:cNvPicPr>
          <p:nvPr/>
        </p:nvPicPr>
        <p:blipFill>
          <a:blip r:embed="rId3"/>
          <a:srcRect l="0" r="0" t="0" b="0"/>
          <a:stretch/>
        </p:blipFill>
        <p:spPr>
          <a:xfrm>
            <a:off x="8185150" y="2424410"/>
            <a:ext cx="203200" cy="203200"/>
          </a:xfrm>
          <a:prstGeom prst="rect">
            <a:avLst/>
          </a:prstGeom>
        </p:spPr>
      </p:pic>
      <p:sp>
        <p:nvSpPr>
          <p:cNvPr id="17" name="Text 12"/>
          <p:cNvSpPr/>
          <p:nvPr/>
        </p:nvSpPr>
        <p:spPr>
          <a:xfrm>
            <a:off x="8185150" y="2703810"/>
            <a:ext cx="307403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45309"/>
                </a:solidFill>
                <a:latin typeface="Arial" pitchFamily="34" charset="0"/>
                <a:ea typeface="Arial" pitchFamily="34" charset="-122"/>
                <a:cs typeface="Arial" pitchFamily="34" charset="-120"/>
              </a:rPr>
              <a:t>Live now</a:t>
            </a:r>
            <a:endParaRPr lang="en-US" sz="1300" dirty="0"/>
          </a:p>
        </p:txBody>
      </p:sp>
      <p:sp>
        <p:nvSpPr>
          <p:cNvPr id="18" name="Text 13"/>
          <p:cNvSpPr/>
          <p:nvPr/>
        </p:nvSpPr>
        <p:spPr>
          <a:xfrm>
            <a:off x="8185150" y="2978100"/>
            <a:ext cx="3074035" cy="605383"/>
          </a:xfrm>
          <a:prstGeom prst="rect">
            <a:avLst/>
          </a:prstGeom>
          <a:noFill/>
          <a:ln/>
        </p:spPr>
        <p:txBody>
          <a:bodyPr wrap="square" lIns="0" tIns="0" rIns="0" bIns="0" rtlCol="0" anchor="t">
            <a:normAutofit/>
          </a:bodyPr>
          <a:lstStyle/>
          <a:p>
            <a:pPr algn="l" indent="0" marL="0">
              <a:lnSpc>
                <a:spcPts val="1523"/>
              </a:lnSpc>
              <a:buNone/>
            </a:pPr>
            <a:r>
              <a:rPr lang="en-US" sz="1050" b="1" dirty="0">
                <a:solidFill>
                  <a:srgbClr val="B45309"/>
                </a:solidFill>
                <a:latin typeface="Arial" pitchFamily="34" charset="0"/>
                <a:ea typeface="Arial" pitchFamily="34" charset="-122"/>
                <a:cs typeface="Arial" pitchFamily="34" charset="-120"/>
              </a:rPr>
              <a:t>Seed 200 orders, turn on SQL logging, and count the queries a "passing" test actually runs.</a:t>
            </a:r>
            <a:endParaRPr lang="en-US" sz="1050" dirty="0"/>
          </a:p>
        </p:txBody>
      </p:sp>
      <p:sp>
        <p:nvSpPr>
          <p:cNvPr id="19" name="Shape 14"/>
          <p:cNvSpPr/>
          <p:nvPr/>
        </p:nvSpPr>
        <p:spPr>
          <a:xfrm>
            <a:off x="812800" y="3996234"/>
            <a:ext cx="10566400" cy="568920"/>
          </a:xfrm>
          <a:prstGeom prst="roundRect">
            <a:avLst>
              <a:gd name="adj" fmla="val 17858"/>
            </a:avLst>
          </a:prstGeom>
          <a:solidFill>
            <a:srgbClr val="0D1117"/>
          </a:solidFill>
          <a:ln/>
        </p:spPr>
      </p:sp>
      <p:sp>
        <p:nvSpPr>
          <p:cNvPr id="20" name="Text 15"/>
          <p:cNvSpPr/>
          <p:nvPr/>
        </p:nvSpPr>
        <p:spPr>
          <a:xfrm>
            <a:off x="1041400" y="4174034"/>
            <a:ext cx="49576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93B"/>
                </a:solidFill>
                <a:latin typeface="JetBrains Mono" pitchFamily="34" charset="0"/>
                <a:ea typeface="JetBrains Mono" pitchFamily="34" charset="-122"/>
                <a:cs typeface="JetBrains Mono" pitchFamily="34" charset="-120"/>
              </a:rPr>
              <a:t>for (Order o : orders) o.getItems(); → 201 queries</a:t>
            </a:r>
            <a:endParaRPr lang="en-US" sz="1200" dirty="0"/>
          </a:p>
        </p:txBody>
      </p:sp>
      <p:pic>
        <p:nvPicPr>
          <p:cNvPr id="21" name="Image 3" descr="Lightning">    </p:cNvPr>
          <p:cNvPicPr>
            <a:picLocks noChangeAspect="1"/>
          </p:cNvPicPr>
          <p:nvPr/>
        </p:nvPicPr>
        <p:blipFill>
          <a:blip r:embed="rId4"/>
          <a:srcRect l="0" r="0" t="0" b="0"/>
          <a:stretch/>
        </p:blipFill>
        <p:spPr>
          <a:xfrm>
            <a:off x="6007100" y="4191794"/>
            <a:ext cx="177800" cy="177800"/>
          </a:xfrm>
          <a:prstGeom prst="rect">
            <a:avLst/>
          </a:prstGeom>
        </p:spPr>
      </p:pic>
      <p:sp>
        <p:nvSpPr>
          <p:cNvPr id="22" name="Text 16"/>
          <p:cNvSpPr/>
          <p:nvPr/>
        </p:nvSpPr>
        <p:spPr>
          <a:xfrm>
            <a:off x="6192901" y="4174034"/>
            <a:ext cx="495769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FBF8F"/>
                </a:solidFill>
                <a:latin typeface="JetBrains Mono" pitchFamily="34" charset="0"/>
                <a:ea typeface="JetBrains Mono" pitchFamily="34" charset="-122"/>
                <a:cs typeface="JetBrains Mono" pitchFamily="34" charset="-120"/>
              </a:rPr>
              <a:t>join fetch o.items → 1 query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809659" y="304800"/>
            <a:ext cx="19305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@hackersmang #HMSep26</a:t>
            </a:r>
            <a:endParaRPr lang="en-US" sz="1200" dirty="0"/>
          </a:p>
        </p:txBody>
      </p:sp>
      <p:sp>
        <p:nvSpPr>
          <p:cNvPr id="3" name="Text 1"/>
          <p:cNvSpPr/>
          <p:nvPr/>
        </p:nvSpPr>
        <p:spPr>
          <a:xfrm>
            <a:off x="812800" y="7112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11111"/>
                </a:solidFill>
                <a:latin typeface="Arial" pitchFamily="34" charset="0"/>
                <a:ea typeface="Arial" pitchFamily="34" charset="-122"/>
                <a:cs typeface="Arial" pitchFamily="34" charset="-120"/>
              </a:rPr>
              <a:t>AI review is not magic</a:t>
            </a:r>
            <a:endParaRPr lang="en-US" sz="2800" dirty="0"/>
          </a:p>
        </p:txBody>
      </p:sp>
      <p:sp>
        <p:nvSpPr>
          <p:cNvPr id="4" name="Text 2"/>
          <p:cNvSpPr/>
          <p:nvPr/>
        </p:nvSpPr>
        <p:spPr>
          <a:xfrm>
            <a:off x="812800" y="1247130"/>
            <a:ext cx="981075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5959"/>
                </a:solidFill>
                <a:latin typeface="Arial" pitchFamily="34" charset="0"/>
                <a:ea typeface="Arial" pitchFamily="34" charset="-122"/>
                <a:cs typeface="Arial" pitchFamily="34" charset="-120"/>
              </a:rPr>
              <a:t>It's an extra pair of eyes, not an oracle : treat every finding as a lead worth checking, not a verdict.</a:t>
            </a:r>
            <a:endParaRPr lang="en-US" sz="1400" dirty="0"/>
          </a:p>
        </p:txBody>
      </p:sp>
      <p:sp>
        <p:nvSpPr>
          <p:cNvPr id="5" name="Shape 3"/>
          <p:cNvSpPr/>
          <p:nvPr/>
        </p:nvSpPr>
        <p:spPr>
          <a:xfrm>
            <a:off x="815975" y="2554635"/>
            <a:ext cx="3380284" cy="2035770"/>
          </a:xfrm>
          <a:prstGeom prst="roundRect">
            <a:avLst>
              <a:gd name="adj" fmla="val 4835"/>
            </a:avLst>
          </a:prstGeom>
          <a:solidFill>
            <a:srgbClr val="F5F6F7"/>
          </a:solidFill>
          <a:ln w="6350">
            <a:solidFill>
              <a:srgbClr val="E0E0E0"/>
            </a:solidFill>
            <a:prstDash val="solid"/>
          </a:ln>
        </p:spPr>
      </p:sp>
      <p:pic>
        <p:nvPicPr>
          <p:cNvPr id="6" name="Image 0" descr="Warning">    </p:cNvPr>
          <p:cNvPicPr>
            <a:picLocks noChangeAspect="1"/>
          </p:cNvPicPr>
          <p:nvPr/>
        </p:nvPicPr>
        <p:blipFill>
          <a:blip r:embed="rId1"/>
          <a:srcRect l="0" r="0" t="0" b="0"/>
          <a:stretch/>
        </p:blipFill>
        <p:spPr>
          <a:xfrm>
            <a:off x="1073150" y="2811810"/>
            <a:ext cx="228600" cy="228600"/>
          </a:xfrm>
          <a:prstGeom prst="rect">
            <a:avLst/>
          </a:prstGeom>
        </p:spPr>
      </p:pic>
      <p:sp>
        <p:nvSpPr>
          <p:cNvPr id="7" name="Text 4"/>
          <p:cNvSpPr/>
          <p:nvPr/>
        </p:nvSpPr>
        <p:spPr>
          <a:xfrm>
            <a:off x="1073150" y="3142010"/>
            <a:ext cx="295191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11111"/>
                </a:solidFill>
                <a:latin typeface="Arial" pitchFamily="34" charset="0"/>
                <a:ea typeface="Arial" pitchFamily="34" charset="-122"/>
                <a:cs typeface="Arial" pitchFamily="34" charset="-120"/>
              </a:rPr>
              <a:t>False positives happen</a:t>
            </a:r>
            <a:endParaRPr lang="en-US" sz="1400" dirty="0"/>
          </a:p>
        </p:txBody>
      </p:sp>
      <p:sp>
        <p:nvSpPr>
          <p:cNvPr id="8" name="Text 5"/>
          <p:cNvSpPr/>
          <p:nvPr/>
        </p:nvSpPr>
        <p:spPr>
          <a:xfrm>
            <a:off x="1073150" y="3456930"/>
            <a:ext cx="2951912" cy="901700"/>
          </a:xfrm>
          <a:prstGeom prst="rect">
            <a:avLst/>
          </a:prstGeom>
          <a:noFill/>
          <a:ln/>
        </p:spPr>
        <p:txBody>
          <a:bodyPr wrap="square" lIns="0" tIns="0" rIns="0" bIns="0" rtlCol="0" anchor="t">
            <a:normAutofit/>
          </a:bodyPr>
          <a:lstStyle/>
          <a:p>
            <a:pPr algn="l" indent="0" marL="0">
              <a:lnSpc>
                <a:spcPts val="1725"/>
              </a:lnSpc>
              <a:buNone/>
            </a:pPr>
            <a:r>
              <a:rPr lang="en-US" sz="1150" dirty="0">
                <a:solidFill>
                  <a:srgbClr val="595959"/>
                </a:solidFill>
                <a:latin typeface="Arial" pitchFamily="34" charset="0"/>
                <a:ea typeface="Arial" pitchFamily="34" charset="-122"/>
                <a:cs typeface="Arial" pitchFamily="34" charset="-120"/>
              </a:rPr>
              <a:t>It can flag safe code as risky, especially with limited context on the surrounding system. Every suggestion still needs a human judgment call.</a:t>
            </a:r>
            <a:endParaRPr lang="en-US" sz="1150" dirty="0"/>
          </a:p>
        </p:txBody>
      </p:sp>
      <p:sp>
        <p:nvSpPr>
          <p:cNvPr id="9" name="Shape 6"/>
          <p:cNvSpPr/>
          <p:nvPr/>
        </p:nvSpPr>
        <p:spPr>
          <a:xfrm>
            <a:off x="4405809" y="2554635"/>
            <a:ext cx="3380333" cy="2035770"/>
          </a:xfrm>
          <a:prstGeom prst="roundRect">
            <a:avLst>
              <a:gd name="adj" fmla="val 4835"/>
            </a:avLst>
          </a:prstGeom>
          <a:solidFill>
            <a:srgbClr val="F5F6F7"/>
          </a:solidFill>
          <a:ln w="6350">
            <a:solidFill>
              <a:srgbClr val="E0E0E0"/>
            </a:solidFill>
            <a:prstDash val="solid"/>
          </a:ln>
        </p:spPr>
      </p:sp>
      <p:pic>
        <p:nvPicPr>
          <p:cNvPr id="10" name="Image 1" descr="Warning">    </p:cNvPr>
          <p:cNvPicPr>
            <a:picLocks noChangeAspect="1"/>
          </p:cNvPicPr>
          <p:nvPr/>
        </p:nvPicPr>
        <p:blipFill>
          <a:blip r:embed="rId2"/>
          <a:srcRect l="0" r="0" t="0" b="0"/>
          <a:stretch/>
        </p:blipFill>
        <p:spPr>
          <a:xfrm>
            <a:off x="4662984" y="2811810"/>
            <a:ext cx="228600" cy="228600"/>
          </a:xfrm>
          <a:prstGeom prst="rect">
            <a:avLst/>
          </a:prstGeom>
        </p:spPr>
      </p:pic>
      <p:sp>
        <p:nvSpPr>
          <p:cNvPr id="11" name="Text 7"/>
          <p:cNvSpPr/>
          <p:nvPr/>
        </p:nvSpPr>
        <p:spPr>
          <a:xfrm>
            <a:off x="4662984" y="3142010"/>
            <a:ext cx="295196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11111"/>
                </a:solidFill>
                <a:latin typeface="Arial" pitchFamily="34" charset="0"/>
                <a:ea typeface="Arial" pitchFamily="34" charset="-122"/>
                <a:cs typeface="Arial" pitchFamily="34" charset="-120"/>
              </a:rPr>
              <a:t>Results aren't deterministic</a:t>
            </a:r>
            <a:endParaRPr lang="en-US" sz="1400" dirty="0"/>
          </a:p>
        </p:txBody>
      </p:sp>
      <p:sp>
        <p:nvSpPr>
          <p:cNvPr id="12" name="Text 8"/>
          <p:cNvSpPr/>
          <p:nvPr/>
        </p:nvSpPr>
        <p:spPr>
          <a:xfrm>
            <a:off x="4662984" y="3456930"/>
            <a:ext cx="2951963" cy="682625"/>
          </a:xfrm>
          <a:prstGeom prst="rect">
            <a:avLst/>
          </a:prstGeom>
          <a:noFill/>
          <a:ln/>
        </p:spPr>
        <p:txBody>
          <a:bodyPr wrap="square" lIns="0" tIns="0" rIns="0" bIns="0" rtlCol="0" anchor="t">
            <a:normAutofit/>
          </a:bodyPr>
          <a:lstStyle/>
          <a:p>
            <a:pPr algn="l" indent="0" marL="0">
              <a:lnSpc>
                <a:spcPts val="1725"/>
              </a:lnSpc>
              <a:buNone/>
            </a:pPr>
            <a:r>
              <a:rPr lang="en-US" sz="1150" dirty="0">
                <a:solidFill>
                  <a:srgbClr val="595959"/>
                </a:solidFill>
                <a:latin typeface="Arial" pitchFamily="34" charset="0"/>
                <a:ea typeface="Arial" pitchFamily="34" charset="-122"/>
                <a:cs typeface="Arial" pitchFamily="34" charset="-120"/>
              </a:rPr>
              <a:t>The same prompt can catch a bug on one run and miss it on the next. Don't stake a live demo on a single pass : have a fallback.</a:t>
            </a:r>
            <a:endParaRPr lang="en-US" sz="1150" dirty="0"/>
          </a:p>
        </p:txBody>
      </p:sp>
      <p:sp>
        <p:nvSpPr>
          <p:cNvPr id="13" name="Shape 9"/>
          <p:cNvSpPr/>
          <p:nvPr/>
        </p:nvSpPr>
        <p:spPr>
          <a:xfrm>
            <a:off x="7995692" y="2554635"/>
            <a:ext cx="3380333" cy="2035770"/>
          </a:xfrm>
          <a:prstGeom prst="roundRect">
            <a:avLst>
              <a:gd name="adj" fmla="val 4835"/>
            </a:avLst>
          </a:prstGeom>
          <a:solidFill>
            <a:srgbClr val="F5F6F7"/>
          </a:solidFill>
          <a:ln w="6350">
            <a:solidFill>
              <a:srgbClr val="E0E0E0"/>
            </a:solidFill>
            <a:prstDash val="solid"/>
          </a:ln>
        </p:spPr>
      </p:sp>
      <p:pic>
        <p:nvPicPr>
          <p:cNvPr id="14" name="Image 2" descr="Warning">    </p:cNvPr>
          <p:cNvPicPr>
            <a:picLocks noChangeAspect="1"/>
          </p:cNvPicPr>
          <p:nvPr/>
        </p:nvPicPr>
        <p:blipFill>
          <a:blip r:embed="rId3"/>
          <a:srcRect l="0" r="0" t="0" b="0"/>
          <a:stretch/>
        </p:blipFill>
        <p:spPr>
          <a:xfrm>
            <a:off x="8252867" y="2811810"/>
            <a:ext cx="228600" cy="228600"/>
          </a:xfrm>
          <a:prstGeom prst="rect">
            <a:avLst/>
          </a:prstGeom>
        </p:spPr>
      </p:pic>
      <p:sp>
        <p:nvSpPr>
          <p:cNvPr id="15" name="Text 10"/>
          <p:cNvSpPr/>
          <p:nvPr/>
        </p:nvSpPr>
        <p:spPr>
          <a:xfrm>
            <a:off x="8252867" y="3142010"/>
            <a:ext cx="295196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11111"/>
                </a:solidFill>
                <a:latin typeface="Arial" pitchFamily="34" charset="0"/>
                <a:ea typeface="Arial" pitchFamily="34" charset="-122"/>
                <a:cs typeface="Arial" pitchFamily="34" charset="-120"/>
              </a:rPr>
              <a:t>Prompting matters</a:t>
            </a:r>
            <a:endParaRPr lang="en-US" sz="1400" dirty="0"/>
          </a:p>
        </p:txBody>
      </p:sp>
      <p:sp>
        <p:nvSpPr>
          <p:cNvPr id="16" name="Text 11"/>
          <p:cNvSpPr/>
          <p:nvPr/>
        </p:nvSpPr>
        <p:spPr>
          <a:xfrm>
            <a:off x="8252867" y="3456930"/>
            <a:ext cx="2951963" cy="901700"/>
          </a:xfrm>
          <a:prstGeom prst="rect">
            <a:avLst/>
          </a:prstGeom>
          <a:noFill/>
          <a:ln/>
        </p:spPr>
        <p:txBody>
          <a:bodyPr wrap="square" lIns="0" tIns="0" rIns="0" bIns="0" rtlCol="0" anchor="t">
            <a:normAutofit/>
          </a:bodyPr>
          <a:lstStyle/>
          <a:p>
            <a:pPr algn="l" indent="0" marL="0">
              <a:lnSpc>
                <a:spcPts val="1725"/>
              </a:lnSpc>
              <a:buNone/>
            </a:pPr>
            <a:r>
              <a:rPr lang="en-US" sz="1150" dirty="0">
                <a:solidFill>
                  <a:srgbClr val="595959"/>
                </a:solidFill>
                <a:latin typeface="Arial" pitchFamily="34" charset="0"/>
                <a:ea typeface="Arial" pitchFamily="34" charset="-122"/>
                <a:cs typeface="Arial" pitchFamily="34" charset="-120"/>
              </a:rPr>
              <a:t>A generic "review this" finds less than a targeted "check for race conditions and thread safety." How you ask shapes what it finds.</a:t>
            </a:r>
            <a:endParaRPr lang="en-US" sz="1150" dirty="0"/>
          </a:p>
        </p:txBody>
      </p:sp>
      <p:sp>
        <p:nvSpPr>
          <p:cNvPr id="17" name="Shape 12"/>
          <p:cNvSpPr/>
          <p:nvPr/>
        </p:nvSpPr>
        <p:spPr>
          <a:xfrm>
            <a:off x="815975" y="5652145"/>
            <a:ext cx="10560050" cy="593080"/>
          </a:xfrm>
          <a:prstGeom prst="roundRect">
            <a:avLst>
              <a:gd name="adj" fmla="val 16596"/>
            </a:avLst>
          </a:prstGeom>
          <a:solidFill>
            <a:srgbClr val="F5F6F7"/>
          </a:solidFill>
          <a:ln w="6350">
            <a:solidFill>
              <a:srgbClr val="E0E0E0"/>
            </a:solidFill>
            <a:prstDash val="solid"/>
          </a:ln>
        </p:spPr>
      </p:sp>
      <p:pic>
        <p:nvPicPr>
          <p:cNvPr id="18" name="Image 3" descr="Users">    </p:cNvPr>
          <p:cNvPicPr>
            <a:picLocks noChangeAspect="1"/>
          </p:cNvPicPr>
          <p:nvPr/>
        </p:nvPicPr>
        <p:blipFill>
          <a:blip r:embed="rId4"/>
          <a:srcRect l="0" r="0" t="0" b="0"/>
          <a:stretch/>
        </p:blipFill>
        <p:spPr>
          <a:xfrm>
            <a:off x="1047750" y="5847060"/>
            <a:ext cx="203200" cy="203200"/>
          </a:xfrm>
          <a:prstGeom prst="rect">
            <a:avLst/>
          </a:prstGeom>
        </p:spPr>
      </p:pic>
      <p:sp>
        <p:nvSpPr>
          <p:cNvPr id="19" name="Text 13"/>
          <p:cNvSpPr/>
          <p:nvPr/>
        </p:nvSpPr>
        <p:spPr>
          <a:xfrm>
            <a:off x="1403350" y="5833120"/>
            <a:ext cx="767655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11111"/>
                </a:solidFill>
                <a:latin typeface="Arial" pitchFamily="34" charset="0"/>
                <a:ea typeface="Arial" pitchFamily="34" charset="-122"/>
                <a:cs typeface="Arial" pitchFamily="34" charset="-120"/>
              </a:rPr>
              <a:t>Treat it the way you'd treat a junior reviewer's comment: worth a look, never worth a merge on its own.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809659" y="304800"/>
            <a:ext cx="19305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Arial" pitchFamily="34" charset="0"/>
                <a:ea typeface="Arial" pitchFamily="34" charset="-122"/>
                <a:cs typeface="Arial" pitchFamily="34" charset="-120"/>
              </a:rPr>
              <a:t>@hackersmang #HMSep26</a:t>
            </a:r>
            <a:endParaRPr lang="en-US" sz="1200" dirty="0"/>
          </a:p>
        </p:txBody>
      </p:sp>
      <p:sp>
        <p:nvSpPr>
          <p:cNvPr id="3" name="Text 1"/>
          <p:cNvSpPr/>
          <p:nvPr/>
        </p:nvSpPr>
        <p:spPr>
          <a:xfrm>
            <a:off x="812800" y="7112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11111"/>
                </a:solidFill>
                <a:latin typeface="Arial" pitchFamily="34" charset="0"/>
                <a:ea typeface="Arial" pitchFamily="34" charset="-122"/>
                <a:cs typeface="Arial" pitchFamily="34" charset="-120"/>
              </a:rPr>
              <a:t>Three takeaways</a:t>
            </a:r>
            <a:endParaRPr lang="en-US" sz="2800" dirty="0"/>
          </a:p>
        </p:txBody>
      </p:sp>
      <p:sp>
        <p:nvSpPr>
          <p:cNvPr id="4" name="Shape 2"/>
          <p:cNvSpPr/>
          <p:nvPr/>
        </p:nvSpPr>
        <p:spPr>
          <a:xfrm>
            <a:off x="815975" y="1806575"/>
            <a:ext cx="10560050" cy="946150"/>
          </a:xfrm>
          <a:prstGeom prst="roundRect">
            <a:avLst>
              <a:gd name="adj" fmla="val 10403"/>
            </a:avLst>
          </a:prstGeom>
          <a:solidFill>
            <a:srgbClr val="F5F6F7"/>
          </a:solidFill>
          <a:ln w="6350">
            <a:solidFill>
              <a:srgbClr val="E0E0E0"/>
            </a:solidFill>
            <a:prstDash val="solid"/>
          </a:ln>
        </p:spPr>
      </p:sp>
      <p:pic>
        <p:nvPicPr>
          <p:cNvPr id="5" name="Image 0" descr="CheckCircle">    </p:cNvPr>
          <p:cNvPicPr>
            <a:picLocks noChangeAspect="1"/>
          </p:cNvPicPr>
          <p:nvPr/>
        </p:nvPicPr>
        <p:blipFill>
          <a:blip r:embed="rId1"/>
          <a:srcRect l="0" r="0" t="0" b="0"/>
          <a:stretch/>
        </p:blipFill>
        <p:spPr>
          <a:xfrm>
            <a:off x="1073150" y="2139950"/>
            <a:ext cx="279400" cy="279400"/>
          </a:xfrm>
          <a:prstGeom prst="rect">
            <a:avLst/>
          </a:prstGeom>
        </p:spPr>
      </p:pic>
      <p:sp>
        <p:nvSpPr>
          <p:cNvPr id="6" name="Text 3"/>
          <p:cNvSpPr/>
          <p:nvPr/>
        </p:nvSpPr>
        <p:spPr>
          <a:xfrm>
            <a:off x="1606550" y="2012950"/>
            <a:ext cx="979766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Arial" pitchFamily="34" charset="0"/>
                <a:ea typeface="Arial" pitchFamily="34" charset="-122"/>
                <a:cs typeface="Arial" pitchFamily="34" charset="-120"/>
              </a:rPr>
              <a:t>Use AI review as an extra pass, not a replacement : it works alongside your compiler, tests, and human reviewers.</a:t>
            </a:r>
            <a:endParaRPr lang="en-US" sz="1500" dirty="0"/>
          </a:p>
        </p:txBody>
      </p:sp>
      <p:sp>
        <p:nvSpPr>
          <p:cNvPr id="7" name="Shape 4"/>
          <p:cNvSpPr/>
          <p:nvPr/>
        </p:nvSpPr>
        <p:spPr>
          <a:xfrm>
            <a:off x="815975" y="2911475"/>
            <a:ext cx="10560050" cy="946150"/>
          </a:xfrm>
          <a:prstGeom prst="roundRect">
            <a:avLst>
              <a:gd name="adj" fmla="val 10403"/>
            </a:avLst>
          </a:prstGeom>
          <a:solidFill>
            <a:srgbClr val="F5F6F7"/>
          </a:solidFill>
          <a:ln w="6350">
            <a:solidFill>
              <a:srgbClr val="E0E0E0"/>
            </a:solidFill>
            <a:prstDash val="solid"/>
          </a:ln>
        </p:spPr>
      </p:sp>
      <p:pic>
        <p:nvPicPr>
          <p:cNvPr id="8" name="Image 1" descr="CheckCircle">    </p:cNvPr>
          <p:cNvPicPr>
            <a:picLocks noChangeAspect="1"/>
          </p:cNvPicPr>
          <p:nvPr/>
        </p:nvPicPr>
        <p:blipFill>
          <a:blip r:embed="rId2"/>
          <a:srcRect l="0" r="0" t="0" b="0"/>
          <a:stretch/>
        </p:blipFill>
        <p:spPr>
          <a:xfrm>
            <a:off x="1073150" y="3244850"/>
            <a:ext cx="279400" cy="279400"/>
          </a:xfrm>
          <a:prstGeom prst="rect">
            <a:avLst/>
          </a:prstGeom>
        </p:spPr>
      </p:pic>
      <p:sp>
        <p:nvSpPr>
          <p:cNvPr id="9" name="Text 5"/>
          <p:cNvSpPr/>
          <p:nvPr/>
        </p:nvSpPr>
        <p:spPr>
          <a:xfrm>
            <a:off x="1606550" y="3117850"/>
            <a:ext cx="979766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Arial" pitchFamily="34" charset="0"/>
                <a:ea typeface="Arial" pitchFamily="34" charset="-122"/>
                <a:cs typeface="Arial" pitchFamily="34" charset="-120"/>
              </a:rPr>
              <a:t>Target your prompts at bug classes tests miss : concurrency, framework proxies, query patterns : rather than a generic review.</a:t>
            </a:r>
            <a:endParaRPr lang="en-US" sz="1500" dirty="0"/>
          </a:p>
        </p:txBody>
      </p:sp>
      <p:sp>
        <p:nvSpPr>
          <p:cNvPr id="10" name="Shape 6"/>
          <p:cNvSpPr/>
          <p:nvPr/>
        </p:nvSpPr>
        <p:spPr>
          <a:xfrm>
            <a:off x="815975" y="4016375"/>
            <a:ext cx="10560050" cy="946150"/>
          </a:xfrm>
          <a:prstGeom prst="roundRect">
            <a:avLst>
              <a:gd name="adj" fmla="val 10403"/>
            </a:avLst>
          </a:prstGeom>
          <a:solidFill>
            <a:srgbClr val="F5F6F7"/>
          </a:solidFill>
          <a:ln w="6350">
            <a:solidFill>
              <a:srgbClr val="E0E0E0"/>
            </a:solidFill>
            <a:prstDash val="solid"/>
          </a:ln>
        </p:spPr>
      </p:sp>
      <p:pic>
        <p:nvPicPr>
          <p:cNvPr id="11" name="Image 2" descr="CheckCircle">    </p:cNvPr>
          <p:cNvPicPr>
            <a:picLocks noChangeAspect="1"/>
          </p:cNvPicPr>
          <p:nvPr/>
        </p:nvPicPr>
        <p:blipFill>
          <a:blip r:embed="rId3"/>
          <a:srcRect l="0" r="0" t="0" b="0"/>
          <a:stretch/>
        </p:blipFill>
        <p:spPr>
          <a:xfrm>
            <a:off x="1073150" y="4349750"/>
            <a:ext cx="279400" cy="279400"/>
          </a:xfrm>
          <a:prstGeom prst="rect">
            <a:avLst/>
          </a:prstGeom>
        </p:spPr>
      </p:pic>
      <p:sp>
        <p:nvSpPr>
          <p:cNvPr id="12" name="Text 7"/>
          <p:cNvSpPr/>
          <p:nvPr/>
        </p:nvSpPr>
        <p:spPr>
          <a:xfrm>
            <a:off x="1606550" y="4222750"/>
            <a:ext cx="979766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Arial" pitchFamily="34" charset="0"/>
                <a:ea typeface="Arial" pitchFamily="34" charset="-122"/>
                <a:cs typeface="Arial" pitchFamily="34" charset="-120"/>
              </a:rPr>
              <a:t>Let it generate the tests you'd otherwise skip : the edge cases and failure paths are exactly where it's most useful.</a:t>
            </a:r>
            <a:endParaRPr lang="en-US" sz="1500" dirty="0"/>
          </a:p>
        </p:txBody>
      </p:sp>
      <p:sp>
        <p:nvSpPr>
          <p:cNvPr id="13" name="Shape 8"/>
          <p:cNvSpPr/>
          <p:nvPr/>
        </p:nvSpPr>
        <p:spPr>
          <a:xfrm>
            <a:off x="815975" y="5652145"/>
            <a:ext cx="10560050" cy="593080"/>
          </a:xfrm>
          <a:prstGeom prst="roundRect">
            <a:avLst>
              <a:gd name="adj" fmla="val 16596"/>
            </a:avLst>
          </a:prstGeom>
          <a:solidFill>
            <a:srgbClr val="EAF6F1"/>
          </a:solidFill>
          <a:ln w="6350">
            <a:solidFill>
              <a:srgbClr val="0E8F6F"/>
            </a:solidFill>
            <a:prstDash val="solid"/>
          </a:ln>
        </p:spPr>
      </p:sp>
      <p:pic>
        <p:nvPicPr>
          <p:cNvPr id="14" name="Image 3" descr="ThumbsUp">    </p:cNvPr>
          <p:cNvPicPr>
            <a:picLocks noChangeAspect="1"/>
          </p:cNvPicPr>
          <p:nvPr/>
        </p:nvPicPr>
        <p:blipFill>
          <a:blip r:embed="rId4"/>
          <a:srcRect l="0" r="0" t="0" b="0"/>
          <a:stretch/>
        </p:blipFill>
        <p:spPr>
          <a:xfrm>
            <a:off x="1047750" y="5847060"/>
            <a:ext cx="203200" cy="203200"/>
          </a:xfrm>
          <a:prstGeom prst="rect">
            <a:avLst/>
          </a:prstGeom>
        </p:spPr>
      </p:pic>
      <p:sp>
        <p:nvSpPr>
          <p:cNvPr id="15" name="Text 9"/>
          <p:cNvSpPr/>
          <p:nvPr/>
        </p:nvSpPr>
        <p:spPr>
          <a:xfrm>
            <a:off x="1403350" y="5833120"/>
            <a:ext cx="925388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8F6F"/>
                </a:solidFill>
                <a:latin typeface="Arial" pitchFamily="34" charset="0"/>
                <a:ea typeface="Arial" pitchFamily="34" charset="-122"/>
                <a:cs typeface="Arial" pitchFamily="34" charset="-120"/>
              </a:rPr>
              <a:t>Three demos, three bug classes your compiler and tests both waved through. That's the case for adding this layer.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171700" y="406400"/>
            <a:ext cx="7848600" cy="1338362"/>
          </a:xfrm>
          <a:prstGeom prst="rect">
            <a:avLst/>
          </a:prstGeom>
          <a:noFill/>
          <a:ln/>
        </p:spPr>
        <p:txBody>
          <a:bodyPr wrap="square" lIns="0" tIns="0" rIns="0" bIns="0" rtlCol="0" anchor="t">
            <a:normAutofit/>
          </a:bodyPr>
          <a:lstStyle/>
          <a:p>
            <a:pPr algn="ctr" indent="0" marL="0">
              <a:lnSpc>
                <a:spcPts val="5486"/>
              </a:lnSpc>
              <a:buNone/>
            </a:pPr>
            <a:r>
              <a:rPr lang="en-US" sz="4770" b="1" dirty="0">
                <a:solidFill>
                  <a:srgbClr val="404040"/>
                </a:solidFill>
                <a:latin typeface="Caveat" pitchFamily="34" charset="0"/>
                <a:ea typeface="Caveat" pitchFamily="34" charset="-122"/>
                <a:cs typeface="Caveat" pitchFamily="34" charset="-120"/>
              </a:rPr>
              <a:t>Stay Connected with @hackersmang</a:t>
            </a:r>
            <a:endParaRPr lang="en-US" sz="4770" dirty="0"/>
          </a:p>
        </p:txBody>
      </p:sp>
      <p:pic>
        <p:nvPicPr>
          <p:cNvPr id="3" name="Image 0" descr="QR code to connect with Hackers Mangaluru">    </p:cNvPr>
          <p:cNvPicPr>
            <a:picLocks noChangeAspect="1"/>
          </p:cNvPicPr>
          <p:nvPr/>
        </p:nvPicPr>
        <p:blipFill>
          <a:blip r:embed="rId1"/>
          <a:srcRect l="-3394" r="-3394" t="0" b="0"/>
          <a:stretch/>
        </p:blipFill>
        <p:spPr>
          <a:xfrm>
            <a:off x="4191000" y="1973362"/>
            <a:ext cx="3810000" cy="3567807"/>
          </a:xfrm>
          <a:prstGeom prst="rect">
            <a:avLst/>
          </a:prstGeom>
        </p:spPr>
      </p:pic>
      <p:sp>
        <p:nvSpPr>
          <p:cNvPr id="4" name="Text 1"/>
          <p:cNvSpPr/>
          <p:nvPr/>
        </p:nvSpPr>
        <p:spPr>
          <a:xfrm>
            <a:off x="4940222" y="5795169"/>
            <a:ext cx="2311556" cy="681831"/>
          </a:xfrm>
          <a:prstGeom prst="rect">
            <a:avLst/>
          </a:prstGeom>
          <a:noFill/>
          <a:ln/>
        </p:spPr>
        <p:txBody>
          <a:bodyPr wrap="square" lIns="0" tIns="0" rIns="0" bIns="0" rtlCol="0" anchor="t">
            <a:normAutofit/>
          </a:bodyPr>
          <a:lstStyle/>
          <a:p>
            <a:pPr algn="ctr" indent="0" marL="0">
              <a:lnSpc>
                <a:spcPts val="5158"/>
              </a:lnSpc>
              <a:buNone/>
            </a:pPr>
            <a:r>
              <a:rPr lang="en-US" sz="4485" b="1" dirty="0">
                <a:solidFill>
                  <a:srgbClr val="404040"/>
                </a:solidFill>
                <a:latin typeface="Caveat" pitchFamily="34" charset="0"/>
                <a:ea typeface="Caveat" pitchFamily="34" charset="-122"/>
                <a:cs typeface="Caveat" pitchFamily="34" charset="-120"/>
              </a:rPr>
              <a:t>#HMSep26</a:t>
            </a:r>
            <a:endParaRPr lang="en-US" sz="448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AI Catch Bugs Your Compiler Can't?</dc:title>
  <dc:subject>PptxGenJS Presentation</dc:subject>
  <dc:creator>PptxGenJS</dc:creator>
  <cp:lastModifiedBy>PptxGenJS</cp:lastModifiedBy>
  <cp:revision>1</cp:revision>
  <dcterms:created xsi:type="dcterms:W3CDTF">2026-09-18T17:03:59Z</dcterms:created>
  <dcterms:modified xsi:type="dcterms:W3CDTF">2026-09-18T17:03:59Z</dcterms:modified>
</cp:coreProperties>
</file>